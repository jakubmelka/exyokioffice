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7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7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1965960"/>
            <a:ext cx="7589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4709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874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atana tradicional sobre paño oscuro iluminada por el fuego de la fragua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20E">
              <a:alpha val="6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1"/>
          <p:cNvSpPr/>
          <p:nvPr/>
        </p:nvSpPr>
        <p:spPr>
          <a:xfrm>
            <a:off x="0" y="1737360"/>
            <a:ext cx="5852160" cy="2377440"/>
          </a:xfrm>
          <a:prstGeom prst="rect">
            <a:avLst/>
          </a:prstGeom>
          <a:solidFill>
            <a:srgbClr val="17120E">
              <a:alpha val="78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2"/>
          <p:cNvSpPr/>
          <p:nvPr/>
        </p:nvSpPr>
        <p:spPr>
          <a:xfrm>
            <a:off x="777240" y="1051560"/>
            <a:ext cx="502920" cy="502920"/>
          </a:xfrm>
          <a:prstGeom prst="rect">
            <a:avLst/>
          </a:prstGeom>
          <a:solidFill>
            <a:srgbClr val="9E2B2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/>
          <p:nvPr/>
        </p:nvSpPr>
        <p:spPr>
          <a:xfrm>
            <a:off x="7772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3EC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刀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463040" y="11338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7C7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PRESENTACIÓN EDUCATIVA</a:t>
            </a:r>
            <a:endParaRPr lang="en-US" sz="1300" dirty="0"/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19659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3EC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Herrería en el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3EC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Japón Histórico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822960" y="3584448"/>
            <a:ext cx="2011680" cy="45720"/>
          </a:xfrm>
          <a:prstGeom prst="rect">
            <a:avLst/>
          </a:prstGeom>
          <a:solidFill>
            <a:srgbClr val="9A773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7"/>
          <p:cNvSpPr/>
          <p:nvPr/>
        </p:nvSpPr>
        <p:spPr>
          <a:xfrm>
            <a:off x="822960" y="373075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i="1" dirty="0">
                <a:solidFill>
                  <a:srgbClr val="F3EC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arte del forjador de espadas: del hierro en bruto al alma del samurái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GEOGRAFÍA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Japón feudal y sus provincias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9A773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3246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Provincias (kuni): el archipiélago se dividía en dominios gobernados por señores feudales (daimyō).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Cuna del acero: la provincia de Kibi (hoy Okayama) desarrolló la metalurgia con arena ferruginosa hacia el siglo VI.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Corazón del tatara: la región de Chūgoku e Izumo (Shimane), rica en arena de hierro y bosques de carbón.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cinco tradiciones (Gokaden): las escuelas de Bizen, Sōshū, Yamato, Yamashiro y Mino.</a:t>
            </a:r>
            <a:endParaRPr lang="en-US" sz="1250" dirty="0"/>
          </a:p>
        </p:txBody>
      </p:sp>
      <p:pic>
        <p:nvPicPr>
          <p:cNvPr id="6" name="Image 0" descr="Mapa antiguo del archipiélago japonés en estilo tinta sobre pergami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670" y="1463040"/>
            <a:ext cx="459486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69080" y="45902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Escuelas de forja del Japón feudal (Gokaden)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8368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Herrería en el Japón Histórico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rjador japonés martilleando acero al rojo vivo en la fragua"/>
          <p:cNvPicPr>
            <a:picLocks noChangeAspect="1"/>
          </p:cNvPicPr>
          <p:nvPr/>
        </p:nvPicPr>
        <p:blipFill>
          <a:blip r:embed="rId3"/>
          <a:srcRect t="658" b="658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1264" y="0"/>
            <a:ext cx="45720" cy="5143500"/>
          </a:xfrm>
          <a:prstGeom prst="rect">
            <a:avLst/>
          </a:prstGeom>
          <a:solidFill>
            <a:srgbClr val="9E2B2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658368" y="329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EL OFICIO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papel del forjador (katanakaji)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8368" y="1536192"/>
            <a:ext cx="1371600" cy="41148"/>
          </a:xfrm>
          <a:prstGeom prst="rect">
            <a:avLst/>
          </a:prstGeom>
          <a:solidFill>
            <a:srgbClr val="9A773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658368" y="1755648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Estatus sagrado: desde el periodo Heian (794–1185) el espadero (tōshō) gozaba de gran prestigio.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 espiritual: el taller se purificaba con ritos sintoístas y el maestro vestía ropas ceremoniales.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alma del samurái: la katana simbolizaba el honor, el poder y el espíritu del guerrero.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Maestro y aprendiz: el oficio se transmitía durante años; el maestro firmaba la espiga (nakago).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Herrería en el Japón Histórico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92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ozos de acero tamahagane y arena de hierro negra"/>
          <p:cNvPicPr>
            <a:picLocks noChangeAspect="1"/>
          </p:cNvPicPr>
          <p:nvPr/>
        </p:nvPicPr>
        <p:blipFill>
          <a:blip r:embed="rId3"/>
          <a:srcRect t="658" b="658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1264" y="0"/>
            <a:ext cx="45720" cy="5143500"/>
          </a:xfrm>
          <a:prstGeom prst="rect">
            <a:avLst/>
          </a:prstGeom>
          <a:solidFill>
            <a:srgbClr val="9E2B2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658368" y="329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LA MATERIA PRIMA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acero tamahagane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8368" y="1536192"/>
            <a:ext cx="1371600" cy="41148"/>
          </a:xfrm>
          <a:prstGeom prst="rect">
            <a:avLst/>
          </a:prstGeom>
          <a:solidFill>
            <a:srgbClr val="9A773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658368" y="1755648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Acero joya: tamahagane (玉鋼) es el acero tradicional de las hojas japonesas.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la arena: se obtiene de arena ferruginosa (satetsu) fundida con carbón vegetal, no de mineral común.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Carbono equilibrado: entre 1 % y 1,5 %, para lograr dureza en el filo y tenacidad.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Selección manual: el maestro rompe el bloque y escoge los trozos por su color y grano.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Herrería en el Japón Histórico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92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rno tatara de arcilla ardiendo con fuego intenso durante la fundición"/>
          <p:cNvPicPr>
            <a:picLocks noChangeAspect="1"/>
          </p:cNvPicPr>
          <p:nvPr/>
        </p:nvPicPr>
        <p:blipFill>
          <a:blip r:embed="rId3"/>
          <a:srcRect t="658" b="658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1264" y="0"/>
            <a:ext cx="45720" cy="5143500"/>
          </a:xfrm>
          <a:prstGeom prst="rect">
            <a:avLst/>
          </a:prstGeom>
          <a:solidFill>
            <a:srgbClr val="9E2B2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658368" y="329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EL HORNO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horno tatara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8368" y="1536192"/>
            <a:ext cx="1371600" cy="41148"/>
          </a:xfrm>
          <a:prstGeom prst="rect">
            <a:avLst/>
          </a:prstGeom>
          <a:solidFill>
            <a:srgbClr val="9A773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658368" y="1755648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Horno de arcilla: la tatara es un horno largo y bajo, construido de nuevo para cada fundición.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días y tres noches: se alimenta sin descanso con capas de arena de hierro y carbón.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Calor extremo: supera los 1.200–1.500 °C, avivado con fuelles manuales.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kera: al final se rompe el horno para extraer la masa de acero de la que sale el tamahagane.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Herrería en el Japón Histórico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92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s herreros forjando una hoja de katana al rojo con lluvia de chispas"/>
          <p:cNvPicPr>
            <a:picLocks noChangeAspect="1"/>
          </p:cNvPicPr>
          <p:nvPr/>
        </p:nvPicPr>
        <p:blipFill>
          <a:blip r:embed="rId3"/>
          <a:srcRect t="658" b="658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1264" y="0"/>
            <a:ext cx="45720" cy="5143500"/>
          </a:xfrm>
          <a:prstGeom prst="rect">
            <a:avLst/>
          </a:prstGeom>
          <a:solidFill>
            <a:srgbClr val="9E2B2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658368" y="329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EL FORJADO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forjado de la hoja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8368" y="1536192"/>
            <a:ext cx="1371600" cy="41148"/>
          </a:xfrm>
          <a:prstGeom prst="rect">
            <a:avLst/>
          </a:prstGeom>
          <a:solidFill>
            <a:srgbClr val="9A773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658368" y="1755648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Martillar y plegar: el acero se calienta y se pliega hasta 10–15 veces, creando miles de capas.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Acero más puro: el plegado homogeneiza el carbono y elimina impurezas y escoria.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aceros: se une una piel dura (kawagane) con un núcleo blando (shingane).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 y curvatura: el herrero da a la hoja su perfil y su curva característicos.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Herrería en el Japón Histórico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92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rjador templando una hoja al rojo vivo sumergiéndola en agua con vapor"/>
          <p:cNvPicPr>
            <a:picLocks noChangeAspect="1"/>
          </p:cNvPicPr>
          <p:nvPr/>
        </p:nvPicPr>
        <p:blipFill>
          <a:blip r:embed="rId3"/>
          <a:srcRect t="658" b="658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1264" y="0"/>
            <a:ext cx="45720" cy="5143500"/>
          </a:xfrm>
          <a:prstGeom prst="rect">
            <a:avLst/>
          </a:prstGeom>
          <a:solidFill>
            <a:srgbClr val="9E2B2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658368" y="329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EL TEMPLE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temple (yaki-ire)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8368" y="1536192"/>
            <a:ext cx="1371600" cy="41148"/>
          </a:xfrm>
          <a:prstGeom prst="rect">
            <a:avLst/>
          </a:prstGeom>
          <a:solidFill>
            <a:srgbClr val="9A773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658368" y="1755648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de arcilla: la hoja se recubre fina en el filo y gruesa en el lomo antes del temple.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Choque térmico: se calienta a 780–900 °C y se sumerge de golpe en agua (yaki-ire).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Dureza diferencial: el filo forma martensita durísima; el lomo queda más tenaz y flexible.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Nace el hamon: la línea de temple ondulada, firma visible de cada maestro.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paso crítico: un error puede agrietar o alabear la hoja.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Herrería en el Japón Histórico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92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lidor de espadas (togishi) puliendo una hoja de katana sobre una piedra de agua"/>
          <p:cNvPicPr>
            <a:picLocks noChangeAspect="1"/>
          </p:cNvPicPr>
          <p:nvPr/>
        </p:nvPicPr>
        <p:blipFill>
          <a:blip r:embed="rId3"/>
          <a:srcRect t="658" b="658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1264" y="0"/>
            <a:ext cx="45720" cy="5143500"/>
          </a:xfrm>
          <a:prstGeom prst="rect">
            <a:avLst/>
          </a:prstGeom>
          <a:solidFill>
            <a:srgbClr val="9E2B2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658368" y="329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EL PULIDO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pulido (togishi)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8368" y="1536192"/>
            <a:ext cx="1371600" cy="41148"/>
          </a:xfrm>
          <a:prstGeom prst="rect">
            <a:avLst/>
          </a:prstGeom>
          <a:solidFill>
            <a:srgbClr val="9A773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658368" y="1755648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especialista: el togishi pule la hoja tras la forja; no es un simple abrillantado.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Piedras de agua: usa una serie de piedras cada vez más finas en un flujo meticuloso.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Revelar el acero: saca a la luz el jihada (grano), el hamon y otras actividades de la superficie.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Semanas de trabajo: determina el valor estético y de tasación de la espada.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Herrería en el Japón Histórico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92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suba japonesa antigua con trabajo de metal calado de olas y grullas"/>
          <p:cNvPicPr>
            <a:picLocks noChangeAspect="1"/>
          </p:cNvPicPr>
          <p:nvPr/>
        </p:nvPicPr>
        <p:blipFill>
          <a:blip r:embed="rId3"/>
          <a:srcRect t="658" b="658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1264" y="0"/>
            <a:ext cx="45720" cy="5143500"/>
          </a:xfrm>
          <a:prstGeom prst="rect">
            <a:avLst/>
          </a:prstGeom>
          <a:solidFill>
            <a:srgbClr val="9E2B2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658368" y="329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EL ORNAMENTO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ornamento del sable (koshirae)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8368" y="1536192"/>
            <a:ext cx="1371600" cy="41148"/>
          </a:xfrm>
          <a:prstGeom prst="rect">
            <a:avLst/>
          </a:prstGeom>
          <a:solidFill>
            <a:srgbClr val="9A773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658368" y="1755648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Vestir la hoja: el koshirae es el conjunto completo de monturas de la espada.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 piezas: la tsuba (guarda), el fuchi-kashira, los menuki, la saya (vaina) y el tsuka (puño).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Muchos artesanos: intervienen laqueadores, metalúrgicos, trenzadores y guarnicioneros.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añadido: una montura de época con piezas firmadas puede multiplicar el precio.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Herrería en el Japón Histórico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92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terior de un taller tradicional de herrería japonesa con yunque y herramientas"/>
          <p:cNvPicPr>
            <a:picLocks noChangeAspect="1"/>
          </p:cNvPicPr>
          <p:nvPr/>
        </p:nvPicPr>
        <p:blipFill>
          <a:blip r:embed="rId3"/>
          <a:srcRect t="658" b="658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1264" y="0"/>
            <a:ext cx="45720" cy="5143500"/>
          </a:xfrm>
          <a:prstGeom prst="rect">
            <a:avLst/>
          </a:prstGeom>
          <a:solidFill>
            <a:srgbClr val="9E2B2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658368" y="329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LA VIDA EN EL TALLER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día a día del forjador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8368" y="1536192"/>
            <a:ext cx="1371600" cy="41148"/>
          </a:xfrm>
          <a:prstGeom prst="rect">
            <a:avLst/>
          </a:prstGeom>
          <a:solidFill>
            <a:srgbClr val="9A773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658368" y="1755648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Junto al fuego: jornadas largas con aprendices que preparaban carbón y avivaban los fuelles.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solo espadas: el taller producía también herramientas y utensilios de uso diario.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Sujeto al entorno: el trabajo dependía del clima y de la calidad del carbón y del acero.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Ritual y disciplina: paciencia y rigor marcaban cada etapa del proceso.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Herrería en el Japón Histórico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92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a katana japonesa curva y una espada europea recta cruzadas"/>
          <p:cNvPicPr>
            <a:picLocks noChangeAspect="1"/>
          </p:cNvPicPr>
          <p:nvPr/>
        </p:nvPicPr>
        <p:blipFill>
          <a:blip r:embed="rId3"/>
          <a:srcRect l="27481" r="27481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1264" y="0"/>
            <a:ext cx="45720" cy="5143500"/>
          </a:xfrm>
          <a:prstGeom prst="rect">
            <a:avLst/>
          </a:prstGeom>
          <a:solidFill>
            <a:srgbClr val="9E2B2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658368" y="329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ORIENTE Y OCCIDENTE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41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Comparación con la herrería europea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58368" y="1536192"/>
            <a:ext cx="1371600" cy="41148"/>
          </a:xfrm>
          <a:prstGeom prst="rect">
            <a:avLst/>
          </a:prstGeom>
          <a:solidFill>
            <a:srgbClr val="9A773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658368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Katana japonesa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127248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Herrería europea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219456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Acero tamahagane de arena ferruginosa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Temple diferencial: filo durísimo y lomo flexible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curva de un solo filo, plegada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Fuerte carga cultural y espiritual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27248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Acero de mineral de hierro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Temple más uniforme y hojas resistentes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recta de doble filo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Enfoque funcional: armas, armaduras y herramientas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17520" y="1810512"/>
            <a:ext cx="18288" cy="2743200"/>
          </a:xfrm>
          <a:prstGeom prst="rect">
            <a:avLst/>
          </a:prstGeom>
          <a:solidFill>
            <a:srgbClr val="C9BCA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9"/>
          <p:cNvSpPr/>
          <p:nvPr/>
        </p:nvSpPr>
        <p:spPr>
          <a:xfrm>
            <a:off x="658368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Herrería en el Japón Histórico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892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imer plano macro de la línea de temple (hamon) en una hoja pulida"/>
          <p:cNvPicPr>
            <a:picLocks noChangeAspect="1"/>
          </p:cNvPicPr>
          <p:nvPr/>
        </p:nvPicPr>
        <p:blipFill>
          <a:blip r:embed="rId3"/>
          <a:srcRect t="658" b="658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1264" y="0"/>
            <a:ext cx="45720" cy="5143500"/>
          </a:xfrm>
          <a:prstGeom prst="rect">
            <a:avLst/>
          </a:prstGeom>
          <a:solidFill>
            <a:srgbClr val="9E2B2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658368" y="329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CURIOSIDADES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Curiosidades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8368" y="1536192"/>
            <a:ext cx="1371600" cy="41148"/>
          </a:xfrm>
          <a:prstGeom prst="rect">
            <a:avLst/>
          </a:prstGeom>
          <a:solidFill>
            <a:srgbClr val="9A773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658368" y="1755648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Hamon único: cada línea de temple permite identificar la escuela e incluso al maestro.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Semanas de labor: una katana tradicional exige el trabajo de varios artesanos especializados.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Firmas selectivas: algunos maestros firmaban solo sus mejores obras; hay obras maestras anónimas.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Prohibición y renacer: tras la Segunda Guerra Mundial la forja se prohibió y luego renació como arte.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último tatara: el Nittōho Tatara es el único horno del mundo que aún produce tamahagane.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Herrería en el Japón Histórico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92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atana acabada expuesta sobre un soporte de madera"/>
          <p:cNvPicPr>
            <a:picLocks noChangeAspect="1"/>
          </p:cNvPicPr>
          <p:nvPr/>
        </p:nvPicPr>
        <p:blipFill>
          <a:blip r:embed="rId3"/>
          <a:srcRect l="30990" r="30990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1264" y="0"/>
            <a:ext cx="45720" cy="5143500"/>
          </a:xfrm>
          <a:prstGeom prst="rect">
            <a:avLst/>
          </a:prstGeom>
          <a:solidFill>
            <a:srgbClr val="9E2B2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658368" y="329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· DEBATE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Preguntas para el debate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8368" y="1536192"/>
            <a:ext cx="1371600" cy="41148"/>
          </a:xfrm>
          <a:prstGeom prst="rect">
            <a:avLst/>
          </a:prstGeom>
          <a:solidFill>
            <a:srgbClr val="9A773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658368" y="178308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300"/>
              </a:spcAft>
              <a:buNone/>
            </a:pPr>
            <a:r>
              <a:rPr lang="en-US" sz="13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¿Por qué crees que la espada llegó a ser “el alma” del samurái?</a:t>
            </a:r>
            <a:endParaRPr lang="en-US" sz="1300" dirty="0"/>
          </a:p>
          <a:p>
            <a:pPr marL="0" indent="0">
              <a:spcAft>
                <a:spcPts val="1300"/>
              </a:spcAft>
              <a:buNone/>
            </a:pPr>
            <a:r>
              <a:rPr lang="en-US" sz="13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¿Qué papel jugó la geografía en la metalurgia japonesa?</a:t>
            </a:r>
            <a:endParaRPr lang="en-US" sz="1300" dirty="0"/>
          </a:p>
          <a:p>
            <a:pPr marL="0" indent="0">
              <a:spcAft>
                <a:spcPts val="1300"/>
              </a:spcAft>
              <a:buNone/>
            </a:pPr>
            <a:r>
              <a:rPr lang="en-US" sz="13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¿Qué ventajas y límites tiene el temple diferencial frente al uniforme?</a:t>
            </a:r>
            <a:endParaRPr lang="en-US" sz="1300" dirty="0"/>
          </a:p>
          <a:p>
            <a:pPr marL="0" indent="0">
              <a:spcAft>
                <a:spcPts val="1300"/>
              </a:spcAft>
              <a:buNone/>
            </a:pPr>
            <a:r>
              <a:rPr lang="en-US" sz="13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¿Debe protegerse la forja tradicional como patrimonio cultural?</a:t>
            </a:r>
            <a:endParaRPr lang="en-US" sz="1300" dirty="0"/>
          </a:p>
          <a:p>
            <a:pPr marL="0" indent="0">
              <a:spcAft>
                <a:spcPts val="1300"/>
              </a:spcAft>
              <a:buNone/>
            </a:pPr>
            <a:r>
              <a:rPr lang="en-US" sz="13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¿Qué paralelismos ves con los artesanos de tu propia cultura?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4F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Herrería en el Japón Histórico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920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E2B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1113</Words>
  <Application>Microsoft Office PowerPoint</Application>
  <PresentationFormat>Předvádění na obrazovce (16:9)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8" baseType="lpstr">
      <vt:lpstr>Arial</vt:lpstr>
      <vt:lpstr>Calibri</vt:lpstr>
      <vt:lpstr>Georgia</vt:lpstr>
      <vt:lpstr>Segoe UI</vt:lpstr>
      <vt:lpstr>Office Theme</vt:lpstr>
      <vt:lpstr>La Herrería en el Japón Histórico</vt:lpstr>
      <vt:lpstr>El Japón feudal y sus provincias</vt:lpstr>
      <vt:lpstr>El papel del forjador (katanakaji)</vt:lpstr>
      <vt:lpstr>El acero tamahagane</vt:lpstr>
      <vt:lpstr>El horno tatara</vt:lpstr>
      <vt:lpstr>El forjado de la hoja</vt:lpstr>
      <vt:lpstr>El temple (yaki-ire)</vt:lpstr>
      <vt:lpstr>El pulido (togishi)</vt:lpstr>
      <vt:lpstr>El ornamento del sable (koshirae)</vt:lpstr>
      <vt:lpstr>El día a día del forjador</vt:lpstr>
      <vt:lpstr>Comparación con la herrería europea</vt:lpstr>
      <vt:lpstr>Curiosidades</vt:lpstr>
      <vt:lpstr>Preguntas para el debate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Melka</dc:creator>
  <cp:lastModifiedBy>Jakub Melka</cp:lastModifiedBy>
  <cp:revision>1</cp:revision>
  <dcterms:created xsi:type="dcterms:W3CDTF">2026-07-03T17:00:19Z</dcterms:created>
  <dcterms:modified xsi:type="dcterms:W3CDTF">2026-08-02T15:57:48Z</dcterms:modified>
</cp:coreProperties>
</file>