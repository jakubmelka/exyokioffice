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99" d="100"/>
          <a:sy n="99" d="100"/>
        </p:scale>
        <p:origin x="1020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9297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20B">
              <a:alpha val="68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1"/>
          <p:cNvSpPr/>
          <p:nvPr/>
        </p:nvSpPr>
        <p:spPr>
          <a:xfrm>
            <a:off x="640080" y="1143000"/>
            <a:ext cx="5577840" cy="2834640"/>
          </a:xfrm>
          <a:prstGeom prst="rect">
            <a:avLst/>
          </a:prstGeom>
          <a:solidFill>
            <a:srgbClr val="1A120B">
              <a:alpha val="7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Text 2"/>
          <p:cNvSpPr/>
          <p:nvPr/>
        </p:nvSpPr>
        <p:spPr>
          <a:xfrm>
            <a:off x="960120" y="1417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60" dirty="0">
                <a:solidFill>
                  <a:srgbClr val="E8C8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TASTE OF THE CARPATHIANS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960120" y="17373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Oštiepok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960120" y="26974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F0E6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smoked mountain cheese of Slovakia — from shepherd's hut to hand-carved wooden mould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60120" y="3547872"/>
            <a:ext cx="1005840" cy="45720"/>
          </a:xfrm>
          <a:prstGeom prst="rect">
            <a:avLst/>
          </a:prstGeom>
          <a:solidFill>
            <a:srgbClr val="C08A33"/>
          </a:solidFill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0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6B4A2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685800" y="38404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B55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58368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E2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exactly is oštiepok?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591056"/>
            <a:ext cx="777240" cy="41148"/>
          </a:xfrm>
          <a:prstGeom prst="rect">
            <a:avLst/>
          </a:prstGeom>
          <a:solidFill>
            <a:srgbClr val="C08A33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2E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semi-hard, half-fat cheese from the mountains of Slovakia, usually sold smoked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2E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Made from sheep's milk, cow's milk, or a blend of the two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2E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Shaped like a large egg, a pine cone or an ellipsoid, pressed with folk ornaments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2E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Golden-yellow to golden-brown outside once smoked; white to buttery-yellow inside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2E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Protected across the EU since 2008 under the name Slovenský oštiepok</a:t>
            </a:r>
            <a:endParaRPr lang="en-US" sz="1350" dirty="0"/>
          </a:p>
        </p:txBody>
      </p:sp>
      <p:pic>
        <p:nvPicPr>
          <p:cNvPr id="7" name="Image 0"/>
          <p:cNvPicPr>
            <a:picLocks noChangeAspect="1"/>
          </p:cNvPicPr>
          <p:nvPr/>
        </p:nvPicPr>
        <p:blipFill>
          <a:blip r:embed="rId3"/>
          <a:srcRect l="28370" r="28370"/>
          <a:stretch/>
        </p:blipFill>
        <p:spPr>
          <a:xfrm>
            <a:off x="5806440" y="0"/>
            <a:ext cx="333756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6B4A2F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 l="24519" r="24519"/>
          <a:stretch/>
        </p:blipFill>
        <p:spPr>
          <a:xfrm>
            <a:off x="128016" y="0"/>
            <a:ext cx="393192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26280" y="3840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B55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26280" y="658368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E2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Born on the mountain pastures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26280" y="1591056"/>
            <a:ext cx="777240" cy="41148"/>
          </a:xfrm>
          <a:prstGeom prst="rect">
            <a:avLst/>
          </a:prstGeom>
          <a:solidFill>
            <a:srgbClr val="C08A33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Text 4"/>
          <p:cNvSpPr/>
          <p:nvPr/>
        </p:nvSpPr>
        <p:spPr>
          <a:xfrm>
            <a:off x="4526280" y="1874520"/>
            <a:ext cx="39776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E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Wallachian shepherds brought sheep herding along the Carpathian arc; the salaš — a small mountain sheep farm — became the heart of the craft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E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Family records and written documents place oštiepok production as early as the beginning of the 18th century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E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firm, smoked cheese kept for weeks and travelled well with the flocks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E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Cow's milk production on an industrial scale began with the Galbavý family in Detva, 1921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0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6B4A2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685800" y="3840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B55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58368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E2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milk to smoke in six steps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591056"/>
            <a:ext cx="777240" cy="41148"/>
          </a:xfrm>
          <a:prstGeom prst="rect">
            <a:avLst/>
          </a:prstGeom>
          <a:solidFill>
            <a:srgbClr val="C08A33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2468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50292" cy="1371600"/>
          </a:xfrm>
          <a:prstGeom prst="rect">
            <a:avLst/>
          </a:prstGeom>
          <a:solidFill>
            <a:srgbClr val="C08A33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886968" y="194767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55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6968" y="223113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2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Milking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86968" y="2523744"/>
            <a:ext cx="21214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61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Fresh sheep's or cow's milk is processed right after milking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10712" y="1828800"/>
            <a:ext cx="2468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3410712" y="1828800"/>
            <a:ext cx="50292" cy="1371600"/>
          </a:xfrm>
          <a:prstGeom prst="rect">
            <a:avLst/>
          </a:prstGeom>
          <a:solidFill>
            <a:srgbClr val="C08A33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3611880" y="194767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55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11880" y="223113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2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Curdling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611880" y="2523744"/>
            <a:ext cx="21214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61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Rennet sets the milk; the curd is cut and the whey drained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35624" y="1828800"/>
            <a:ext cx="2468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6135624" y="1828800"/>
            <a:ext cx="50292" cy="1371600"/>
          </a:xfrm>
          <a:prstGeom prst="rect">
            <a:avLst/>
          </a:prstGeom>
          <a:solidFill>
            <a:srgbClr val="C08A33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Text 16"/>
          <p:cNvSpPr/>
          <p:nvPr/>
        </p:nvSpPr>
        <p:spPr>
          <a:xfrm>
            <a:off x="6336792" y="194767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55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36792" y="223113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2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Ripening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336792" y="2523744"/>
            <a:ext cx="21214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61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curd rests and acidifies until it stretches properly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5800" y="3401568"/>
            <a:ext cx="2468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685800" y="3401568"/>
            <a:ext cx="50292" cy="1371600"/>
          </a:xfrm>
          <a:prstGeom prst="rect">
            <a:avLst/>
          </a:prstGeom>
          <a:solidFill>
            <a:srgbClr val="C08A33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Text 21"/>
          <p:cNvSpPr/>
          <p:nvPr/>
        </p:nvSpPr>
        <p:spPr>
          <a:xfrm>
            <a:off x="886968" y="35204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55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86968" y="380390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2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Steaming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86968" y="4096512"/>
            <a:ext cx="21214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61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Hot water makes the curd elastic and silky — the pareny step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10712" y="3401568"/>
            <a:ext cx="2468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3410712" y="3401568"/>
            <a:ext cx="50292" cy="1371600"/>
          </a:xfrm>
          <a:prstGeom prst="rect">
            <a:avLst/>
          </a:prstGeom>
          <a:solidFill>
            <a:srgbClr val="C08A33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Text 26"/>
          <p:cNvSpPr/>
          <p:nvPr/>
        </p:nvSpPr>
        <p:spPr>
          <a:xfrm>
            <a:off x="3611880" y="35204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55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611880" y="380390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2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Moulding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3611880" y="4096512"/>
            <a:ext cx="21214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61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Pressed into carved wooden forms that emboss the pattern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35624" y="3401568"/>
            <a:ext cx="2468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2" name="Shape 30"/>
          <p:cNvSpPr/>
          <p:nvPr/>
        </p:nvSpPr>
        <p:spPr>
          <a:xfrm>
            <a:off x="6135624" y="3401568"/>
            <a:ext cx="50292" cy="1371600"/>
          </a:xfrm>
          <a:prstGeom prst="rect">
            <a:avLst/>
          </a:prstGeom>
          <a:solidFill>
            <a:srgbClr val="C08A33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Text 31"/>
          <p:cNvSpPr/>
          <p:nvPr/>
        </p:nvSpPr>
        <p:spPr>
          <a:xfrm>
            <a:off x="6336792" y="35204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55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336792" y="380390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2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Brine &amp; smoke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6336792" y="4096512"/>
            <a:ext cx="21214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61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salt bath, drying, then cold smoke over wood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0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6B4A2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685800" y="38404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B55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1–3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58368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E2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shepherd's hut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591056"/>
            <a:ext cx="777240" cy="41148"/>
          </a:xfrm>
          <a:prstGeom prst="rect">
            <a:avLst/>
          </a:prstGeom>
          <a:solidFill>
            <a:srgbClr val="C08A33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2E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bača — the senior shepherd chosen by the village — runs the salaš and makes the cheese, helped by young valasi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2E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Milk is curdled immediately after milking, with no pasteurisation in the traditional on-farm method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2E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curd is stirred, gathered by hand and pressed to expel the whey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2E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leftover whey becomes žinčica, the shepherds' traditional drink</a:t>
            </a:r>
            <a:endParaRPr lang="en-US" sz="1350" dirty="0"/>
          </a:p>
        </p:txBody>
      </p:sp>
      <p:pic>
        <p:nvPicPr>
          <p:cNvPr id="7" name="Image 0"/>
          <p:cNvPicPr>
            <a:picLocks noChangeAspect="1"/>
          </p:cNvPicPr>
          <p:nvPr/>
        </p:nvPicPr>
        <p:blipFill>
          <a:blip r:embed="rId3"/>
          <a:srcRect l="28370" r="28370"/>
          <a:stretch/>
        </p:blipFill>
        <p:spPr>
          <a:xfrm>
            <a:off x="5806440" y="0"/>
            <a:ext cx="333756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0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6B4A2F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 l="24519" r="24519"/>
          <a:stretch/>
        </p:blipFill>
        <p:spPr>
          <a:xfrm>
            <a:off x="128016" y="0"/>
            <a:ext cx="393192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26280" y="3840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B55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4–5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26280" y="658368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E2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carved wooden mould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26280" y="1591056"/>
            <a:ext cx="777240" cy="41148"/>
          </a:xfrm>
          <a:prstGeom prst="rect">
            <a:avLst/>
          </a:prstGeom>
          <a:solidFill>
            <a:srgbClr val="C08A33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Text 4"/>
          <p:cNvSpPr/>
          <p:nvPr/>
        </p:nvSpPr>
        <p:spPr>
          <a:xfrm>
            <a:off x="4526280" y="1874520"/>
            <a:ext cx="39776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E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warm, elastic curd is packed into two-part wooden forms and pressed shut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E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inside of each form is hand-carved, so the finished cheese carries a raised folk ornament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E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Patterns differ from region to region — the decoration is effectively the maker's signature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E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finished piece typically weighs between roughly half a kilo and a kilo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0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6B4A2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685800" y="38404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B55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58368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E2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Brine, dry, smoke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591056"/>
            <a:ext cx="777240" cy="41148"/>
          </a:xfrm>
          <a:prstGeom prst="rect">
            <a:avLst/>
          </a:prstGeom>
          <a:solidFill>
            <a:srgbClr val="C08A33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2E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moulded cheese rests in a salt brine, which seasons it and firms the rind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2E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drying, it hangs in the smokehouse over smouldering wood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2E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Cold smoke turns the rind golden to deep brown and lends the aroma everyone recognises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2E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Unsmoked oštiepok also exists — paler, milkier and gentler in flavour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2E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Longer ageing gives a firmer body and a sharper, saltier bite</a:t>
            </a:r>
            <a:endParaRPr lang="en-US" sz="1350" dirty="0"/>
          </a:p>
        </p:txBody>
      </p:sp>
      <p:pic>
        <p:nvPicPr>
          <p:cNvPr id="7" name="Image 0"/>
          <p:cNvPicPr>
            <a:picLocks noChangeAspect="1"/>
          </p:cNvPicPr>
          <p:nvPr/>
        </p:nvPicPr>
        <p:blipFill>
          <a:blip r:embed="rId3"/>
          <a:srcRect l="28370" r="28370"/>
          <a:stretch/>
        </p:blipFill>
        <p:spPr>
          <a:xfrm>
            <a:off x="5806440" y="0"/>
            <a:ext cx="333756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0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6B4A2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685800" y="3840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B55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PROTECTED ORIGIN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58368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E2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Slovenský oštiepok, PGI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591056"/>
            <a:ext cx="777240" cy="41148"/>
          </a:xfrm>
          <a:prstGeom prst="rect">
            <a:avLst/>
          </a:prstGeom>
          <a:solidFill>
            <a:srgbClr val="C08A33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6E61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Registered as a Protected Geographical Indication with the EU on 26 September 2008. The specification covers more than 80% of Slovak territory and admits both on-farm and dairy production.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2633472"/>
            <a:ext cx="3703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868680" y="270662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B55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74520" y="2688336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Sheep's milk, a sheep–cow blend, or cow's milk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36008" y="2633472"/>
            <a:ext cx="3703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4818888" y="270662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B55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BREEDS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24728" y="2688336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Valaška, Improved Valaška and Cigája sheep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3364992"/>
            <a:ext cx="3703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868680" y="343814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B55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74520" y="3419856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 least 38% fat in dry matter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36008" y="3364992"/>
            <a:ext cx="3703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4818888" y="343814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B55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SHAPE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24728" y="3419856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Large egg, pine cone or decorated ellipsoid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4096512"/>
            <a:ext cx="3703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Text 18"/>
          <p:cNvSpPr/>
          <p:nvPr/>
        </p:nvSpPr>
        <p:spPr>
          <a:xfrm>
            <a:off x="868680" y="416966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B55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RIND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74520" y="4151376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Golden-yellow to golden-brown after smoking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36008" y="4096512"/>
            <a:ext cx="3703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Text 21"/>
          <p:cNvSpPr/>
          <p:nvPr/>
        </p:nvSpPr>
        <p:spPr>
          <a:xfrm>
            <a:off x="4818888" y="416966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B55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24728" y="4151376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Traditional salaš method or industrial dairy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0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6B4A2F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 l="25704" r="25704"/>
          <a:stretch/>
        </p:blipFill>
        <p:spPr>
          <a:xfrm>
            <a:off x="5394960" y="0"/>
            <a:ext cx="374904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38404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B55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SENSORY PROFILE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85800" y="658368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E2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tastes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85800" y="1591056"/>
            <a:ext cx="777240" cy="41148"/>
          </a:xfrm>
          <a:prstGeom prst="rect">
            <a:avLst/>
          </a:prstGeom>
          <a:solidFill>
            <a:srgbClr val="C08A33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Text 4"/>
          <p:cNvSpPr/>
          <p:nvPr/>
        </p:nvSpPr>
        <p:spPr>
          <a:xfrm>
            <a:off x="685800" y="1874520"/>
            <a:ext cx="43434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E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Savoury and moderately salty, with a mild to gently piquant, slightly sour edge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E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clear woodsmoke aroma when smoked; pure, milky sweetness when not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E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Firm and slightly elastic — it slices cleanly, with small cracks and few holes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E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Sheep's milk versions are richer and creamier than the cow's milk ones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E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Pairs beautifully with cranberry or plum sauce, dark bread and a dry white wine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0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6B4A2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685800" y="3840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B55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THE KITCHEN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58368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E2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Ways to enjoy 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591056"/>
            <a:ext cx="777240" cy="41148"/>
          </a:xfrm>
          <a:prstGeom prst="rect">
            <a:avLst/>
          </a:prstGeom>
          <a:solidFill>
            <a:srgbClr val="C08A33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6" name="Image 0"/>
          <p:cNvPicPr>
            <a:picLocks noChangeAspect="1"/>
          </p:cNvPicPr>
          <p:nvPr/>
        </p:nvPicPr>
        <p:blipFill>
          <a:blip r:embed="rId3"/>
          <a:srcRect l="9016" r="9016"/>
          <a:stretch/>
        </p:blipFill>
        <p:spPr>
          <a:xfrm>
            <a:off x="5074920" y="1874520"/>
            <a:ext cx="3429000" cy="2788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874520"/>
            <a:ext cx="50292" cy="841248"/>
          </a:xfrm>
          <a:prstGeom prst="rect">
            <a:avLst/>
          </a:prstGeom>
          <a:solidFill>
            <a:srgbClr val="C08A33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Text 5"/>
          <p:cNvSpPr/>
          <p:nvPr/>
        </p:nvSpPr>
        <p:spPr>
          <a:xfrm>
            <a:off x="914400" y="18562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2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Grilled or pan-fried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214884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1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Cut thick slices and cook 2–3 minutes per side until a golden crust forms and the centre turns soft.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85800" y="2834640"/>
            <a:ext cx="50292" cy="841248"/>
          </a:xfrm>
          <a:prstGeom prst="rect">
            <a:avLst/>
          </a:prstGeom>
          <a:solidFill>
            <a:srgbClr val="C08A33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8"/>
          <p:cNvSpPr/>
          <p:nvPr/>
        </p:nvSpPr>
        <p:spPr>
          <a:xfrm>
            <a:off x="914400" y="28163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2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a cheese board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14400" y="310896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1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 at room temperature with cured meats, walnuts, honey and rye bread.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85800" y="3794760"/>
            <a:ext cx="50292" cy="841248"/>
          </a:xfrm>
          <a:prstGeom prst="rect">
            <a:avLst/>
          </a:prstGeom>
          <a:solidFill>
            <a:srgbClr val="C08A33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Text 11"/>
          <p:cNvSpPr/>
          <p:nvPr/>
        </p:nvSpPr>
        <p:spPr>
          <a:xfrm>
            <a:off x="914400" y="37764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2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Cooked into dishes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14400" y="406908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1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Grated over potato dishes, folded into dumplings, or melted onto soups and pasta.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0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6B4A2F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 l="25704" r="25704"/>
          <a:stretch/>
        </p:blipFill>
        <p:spPr>
          <a:xfrm>
            <a:off x="5394960" y="0"/>
            <a:ext cx="374904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38404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B55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RELATED CHEESES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85800" y="658368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E2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Slovak cheese family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85800" y="1591056"/>
            <a:ext cx="777240" cy="41148"/>
          </a:xfrm>
          <a:prstGeom prst="rect">
            <a:avLst/>
          </a:prstGeom>
          <a:solidFill>
            <a:srgbClr val="C08A33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Text 4"/>
          <p:cNvSpPr/>
          <p:nvPr/>
        </p:nvSpPr>
        <p:spPr>
          <a:xfrm>
            <a:off x="685800" y="1874520"/>
            <a:ext cx="43434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E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Bryndza — soft, tangy and spreadable sheep's cheese, the soul of bryndzové halušky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E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Parenica — steamed sheep's milk cheese rolled into a spiral, smoked or plain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E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Korbáčik — hand-stretched strands braided like a little whip, from Orava and Zázrivá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E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Oscypek — the closely related Polish cousin from the Tatras, made to a different recipe and ratio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20B">
              <a:alpha val="7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1"/>
          <p:cNvSpPr/>
          <p:nvPr/>
        </p:nvSpPr>
        <p:spPr>
          <a:xfrm>
            <a:off x="685800" y="777240"/>
            <a:ext cx="5120640" cy="3520440"/>
          </a:xfrm>
          <a:prstGeom prst="rect">
            <a:avLst/>
          </a:prstGeom>
          <a:solidFill>
            <a:srgbClr val="1A120B">
              <a:alpha val="78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Text 2"/>
          <p:cNvSpPr/>
          <p:nvPr/>
        </p:nvSpPr>
        <p:spPr>
          <a:xfrm>
            <a:off x="1005840" y="1051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E8C8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TO FIND IT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005840" y="135331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Taste it at the source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005840" y="210312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F0E6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Mountain salaše in Liptov, Orava and Zázrivá sell hand-made cheese straight from the hut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F0E6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Farmers' markets and farm shops carry fresh pieces by the piece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F0E6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Supermarkets stock vacuum-packed smoked cheese, often boxed with cranberry sauce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F0E6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the label for the milk used and look for the Slovenský oštiepok PGI mark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837</Words>
  <Application>Microsoft Office PowerPoint</Application>
  <PresentationFormat>Předvádění na obrazovce (16:9)</PresentationFormat>
  <Paragraphs>109</Paragraphs>
  <Slides>12</Slides>
  <Notes>12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7" baseType="lpstr">
      <vt:lpstr>Arial</vt:lpstr>
      <vt:lpstr>Calibri</vt:lpstr>
      <vt:lpstr>Georgia</vt:lpstr>
      <vt:lpstr>Trebuchet MS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Jakub Melka</dc:creator>
  <cp:lastModifiedBy>Jakub Melka</cp:lastModifiedBy>
  <cp:revision>1</cp:revision>
  <dcterms:created xsi:type="dcterms:W3CDTF">2026-08-02T17:04:07Z</dcterms:created>
  <dcterms:modified xsi:type="dcterms:W3CDTF">2026-08-02T17:50:28Z</dcterms:modified>
</cp:coreProperties>
</file>