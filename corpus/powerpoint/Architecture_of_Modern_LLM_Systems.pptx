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0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373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A1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5679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DESIGN BRIEFING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373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of Modern LLM Systems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weights to production: serving, retrieval, agents, evaluation and operations.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deep dive  ·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 between a user request and a grounded, safe response.</a:t>
            </a:r>
            <a:endParaRPr lang="en-US" sz="1250" dirty="0"/>
          </a:p>
        </p:txBody>
      </p:sp>
      <p:sp>
        <p:nvSpPr>
          <p:cNvPr id="4" name="lay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8046720" cy="54864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layer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82296" cy="54864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777240" y="134416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11880" y="134416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· IDE plug-ins · APIs · background jobs</a:t>
            </a:r>
            <a:endParaRPr lang="en-US" sz="1150" dirty="0"/>
          </a:p>
        </p:txBody>
      </p:sp>
      <p:sp>
        <p:nvSpPr>
          <p:cNvPr id="8" name="lay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84248"/>
            <a:ext cx="8046720" cy="548640"/>
          </a:xfrm>
          <a:prstGeom prst="rect">
            <a:avLst/>
          </a:prstGeom>
          <a:solidFill>
            <a:srgbClr val="16344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layer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84248"/>
            <a:ext cx="82296" cy="54864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777240" y="200253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 LAYER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2002536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assembly · agents · tool calling · state &amp; memory</a:t>
            </a:r>
            <a:endParaRPr lang="en-US" sz="1150" dirty="0"/>
          </a:p>
        </p:txBody>
      </p:sp>
      <p:sp>
        <p:nvSpPr>
          <p:cNvPr id="12" name="lay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642616"/>
            <a:ext cx="8046720" cy="54864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layer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642616"/>
            <a:ext cx="82296" cy="54864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777240" y="266090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266090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&amp; hybrid search · rerankers · structured data connectors</a:t>
            </a:r>
            <a:endParaRPr lang="en-US" sz="1150" dirty="0"/>
          </a:p>
        </p:txBody>
      </p:sp>
      <p:sp>
        <p:nvSpPr>
          <p:cNvPr id="16" name="lay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300984"/>
            <a:ext cx="8046720" cy="548640"/>
          </a:xfrm>
          <a:prstGeom prst="rect">
            <a:avLst/>
          </a:prstGeom>
          <a:solidFill>
            <a:srgbClr val="16344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layer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300984"/>
            <a:ext cx="82296" cy="54864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777240" y="331927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&amp; INFERENCE LAYER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11880" y="331927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/ open-weight models · routing · KV cache · batching</a:t>
            </a:r>
            <a:endParaRPr lang="en-US" sz="1150" dirty="0"/>
          </a:p>
        </p:txBody>
      </p:sp>
      <p:sp>
        <p:nvSpPr>
          <p:cNvPr id="20" name="lay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59352"/>
            <a:ext cx="8046720" cy="54864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layer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959352"/>
            <a:ext cx="82296" cy="54864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777240" y="397764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11880" y="397764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capacity · observability · evaluation · guardrails · cost control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21040" y="4617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 Layer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Decoder-only transformers remain the base; attention plus feed-forward blocks scaled in depth and width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Mixture-of-Experts routes each token to a few experts — large capacity, modest active compute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Long-context designs rely on efficient attention, positional scaling and paged KV cache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(instruction tuning, preference optimization) shapes behaviour more than raw scale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 trade extra inference-time compute for accuracy on hard tasks</a:t>
            </a:r>
            <a:endParaRPr lang="en-US" sz="1350" dirty="0"/>
          </a:p>
        </p:txBody>
      </p:sp>
      <p:sp>
        <p:nvSpPr>
          <p:cNvPr id="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3560" y="1051560"/>
            <a:ext cx="2971800" cy="333756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5806440" y="1188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 BLOCK</a:t>
            </a:r>
            <a:endParaRPr lang="en-US" sz="1100" dirty="0"/>
          </a:p>
        </p:txBody>
      </p:sp>
      <p:sp>
        <p:nvSpPr>
          <p:cNvPr id="6" name="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0" y="1572768"/>
            <a:ext cx="2514600" cy="384048"/>
          </a:xfrm>
          <a:prstGeom prst="rect">
            <a:avLst/>
          </a:prstGeom>
          <a:solidFill>
            <a:srgbClr val="16344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5852160" y="1572768"/>
            <a:ext cx="25146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positional embed</a:t>
            </a:r>
            <a:endParaRPr lang="en-US" sz="1000" dirty="0"/>
          </a:p>
        </p:txBody>
      </p:sp>
      <p:sp>
        <p:nvSpPr>
          <p:cNvPr id="8" name="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22592" y="1975104"/>
            <a:ext cx="164592" cy="128016"/>
          </a:xfrm>
          <a:prstGeom prst="downArrow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0" y="2121408"/>
            <a:ext cx="2514600" cy="384048"/>
          </a:xfrm>
          <a:prstGeom prst="rect">
            <a:avLst/>
          </a:prstGeom>
          <a:solidFill>
            <a:srgbClr val="16344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5852160" y="2121408"/>
            <a:ext cx="25146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1000" dirty="0"/>
          </a:p>
        </p:txBody>
      </p:sp>
      <p:sp>
        <p:nvSpPr>
          <p:cNvPr id="11" name="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22592" y="2523744"/>
            <a:ext cx="164592" cy="128016"/>
          </a:xfrm>
          <a:prstGeom prst="downArrow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2" name="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0" y="2670048"/>
            <a:ext cx="2514600" cy="384048"/>
          </a:xfrm>
          <a:prstGeom prst="rect">
            <a:avLst/>
          </a:prstGeom>
          <a:solidFill>
            <a:srgbClr val="16344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5852160" y="2670048"/>
            <a:ext cx="25146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+ residual</a:t>
            </a:r>
            <a:endParaRPr lang="en-US" sz="1000" dirty="0"/>
          </a:p>
        </p:txBody>
      </p:sp>
      <p:sp>
        <p:nvSpPr>
          <p:cNvPr id="14" name="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22592" y="3072384"/>
            <a:ext cx="164592" cy="128016"/>
          </a:xfrm>
          <a:prstGeom prst="downArrow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0" y="3218688"/>
            <a:ext cx="2514600" cy="384048"/>
          </a:xfrm>
          <a:prstGeom prst="rect">
            <a:avLst/>
          </a:prstGeom>
          <a:solidFill>
            <a:srgbClr val="16344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5852160" y="3218688"/>
            <a:ext cx="25146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/ MoE experts</a:t>
            </a:r>
            <a:endParaRPr lang="en-US" sz="1000" dirty="0"/>
          </a:p>
        </p:txBody>
      </p:sp>
      <p:sp>
        <p:nvSpPr>
          <p:cNvPr id="17" name="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22592" y="3621024"/>
            <a:ext cx="164592" cy="128016"/>
          </a:xfrm>
          <a:prstGeom prst="downArrow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2160" y="3767328"/>
            <a:ext cx="2514600" cy="384048"/>
          </a:xfrm>
          <a:prstGeom prst="rect">
            <a:avLst/>
          </a:prstGeom>
          <a:solidFill>
            <a:srgbClr val="16344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5852160" y="3767328"/>
            <a:ext cx="25146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projection → logits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4617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Serving and Inference Path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travels through the gateway, the scheduler and the KV cache before a token is emitted.</a:t>
            </a:r>
            <a:endParaRPr lang="en-US" sz="1250" dirty="0"/>
          </a:p>
        </p:txBody>
      </p:sp>
      <p:sp>
        <p:nvSpPr>
          <p:cNvPr id="4" name="nod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1417320" cy="100584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4173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quota</a:t>
            </a:r>
            <a:endParaRPr lang="en-US" sz="1200" dirty="0"/>
          </a:p>
        </p:txBody>
      </p:sp>
      <p:sp>
        <p:nvSpPr>
          <p:cNvPr id="6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11680" y="1883664"/>
            <a:ext cx="128016" cy="164592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nod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5416" y="1463040"/>
            <a:ext cx="1417320" cy="100584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2185416" y="1463040"/>
            <a:ext cx="14173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</a:t>
            </a:r>
            <a:endParaRPr lang="en-US" sz="1200" dirty="0"/>
          </a:p>
        </p:txBody>
      </p:sp>
      <p:sp>
        <p:nvSpPr>
          <p:cNvPr id="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48456" y="1883664"/>
            <a:ext cx="128016" cy="164592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nod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2192" y="1463040"/>
            <a:ext cx="1417320" cy="100584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3822192" y="1463040"/>
            <a:ext cx="14173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cont. batching</a:t>
            </a:r>
            <a:endParaRPr lang="en-US" sz="1200" dirty="0"/>
          </a:p>
        </p:txBody>
      </p:sp>
      <p:sp>
        <p:nvSpPr>
          <p:cNvPr id="12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85232" y="1883664"/>
            <a:ext cx="128016" cy="164592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nod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58968" y="1463040"/>
            <a:ext cx="1417320" cy="100584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5458968" y="1463040"/>
            <a:ext cx="14173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KV Cache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/ shared</a:t>
            </a:r>
            <a:endParaRPr lang="en-US" sz="1200" dirty="0"/>
          </a:p>
        </p:txBody>
      </p:sp>
      <p:sp>
        <p:nvSpPr>
          <p:cNvPr id="15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22008" y="1883664"/>
            <a:ext cx="128016" cy="164592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nod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95744" y="1463040"/>
            <a:ext cx="1417320" cy="100584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7095744" y="1463040"/>
            <a:ext cx="141732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 Pool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parallel</a:t>
            </a:r>
            <a:endParaRPr lang="en-US" sz="1200" dirty="0"/>
          </a:p>
        </p:txBody>
      </p:sp>
      <p:sp>
        <p:nvSpPr>
          <p:cNvPr id="18" name="metric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063240"/>
            <a:ext cx="1874520" cy="132588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Text 17"/>
          <p:cNvSpPr/>
          <p:nvPr/>
        </p:nvSpPr>
        <p:spPr>
          <a:xfrm>
            <a:off x="713232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TTFT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13232" y="36118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cost — dominated by prompt length</a:t>
            </a:r>
            <a:endParaRPr lang="en-US" sz="1050" dirty="0"/>
          </a:p>
        </p:txBody>
      </p:sp>
      <p:sp>
        <p:nvSpPr>
          <p:cNvPr id="21" name="metric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96896" y="3063240"/>
            <a:ext cx="1874520" cy="132588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Text 20"/>
          <p:cNvSpPr/>
          <p:nvPr/>
        </p:nvSpPr>
        <p:spPr>
          <a:xfrm>
            <a:off x="2761488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TPOT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761488" y="36118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cost — memory-bandwidth bound</a:t>
            </a:r>
            <a:endParaRPr lang="en-US" sz="1050" dirty="0"/>
          </a:p>
        </p:txBody>
      </p:sp>
      <p:sp>
        <p:nvSpPr>
          <p:cNvPr id="24" name="metric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3063240"/>
            <a:ext cx="1874520" cy="132588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Text 23"/>
          <p:cNvSpPr/>
          <p:nvPr/>
        </p:nvSpPr>
        <p:spPr>
          <a:xfrm>
            <a:off x="4809744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Throughput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809744" y="36118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batched tokens/s per accelerator</a:t>
            </a:r>
            <a:endParaRPr lang="en-US" sz="1050" dirty="0"/>
          </a:p>
        </p:txBody>
      </p:sp>
      <p:sp>
        <p:nvSpPr>
          <p:cNvPr id="27" name="metric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3408" y="3063240"/>
            <a:ext cx="1874520" cy="132588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8" name="Text 26"/>
          <p:cNvSpPr/>
          <p:nvPr/>
        </p:nvSpPr>
        <p:spPr>
          <a:xfrm>
            <a:off x="6858000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 1M tokens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858000" y="36118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 finance actually tracks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321040" y="4617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Retrieval-Augmented Generation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 (offline)</a:t>
            </a:r>
            <a:endParaRPr lang="en-US" sz="1100" dirty="0"/>
          </a:p>
        </p:txBody>
      </p:sp>
      <p:sp>
        <p:nvSpPr>
          <p:cNvPr id="4" name="nod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80160"/>
            <a:ext cx="1828800" cy="73152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· DB · APIs</a:t>
            </a:r>
            <a:endParaRPr lang="en-US" sz="1200" dirty="0"/>
          </a:p>
        </p:txBody>
      </p:sp>
      <p:sp>
        <p:nvSpPr>
          <p:cNvPr id="6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04872" y="1563624"/>
            <a:ext cx="146304" cy="164592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nod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96896" y="1280160"/>
            <a:ext cx="1828800" cy="73152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2596896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Chunking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aware</a:t>
            </a:r>
            <a:endParaRPr lang="en-US" sz="1200" dirty="0"/>
          </a:p>
        </p:txBody>
      </p:sp>
      <p:sp>
        <p:nvSpPr>
          <p:cNvPr id="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53128" y="1563624"/>
            <a:ext cx="146304" cy="164592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nod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280160"/>
            <a:ext cx="1828800" cy="73152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4645152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+ metadata</a:t>
            </a:r>
            <a:endParaRPr lang="en-US" sz="1200" dirty="0"/>
          </a:p>
        </p:txBody>
      </p:sp>
      <p:sp>
        <p:nvSpPr>
          <p:cNvPr id="12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01384" y="1563624"/>
            <a:ext cx="146304" cy="164592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nod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3408" y="1280160"/>
            <a:ext cx="1828800" cy="73152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6693408" y="1280160"/>
            <a:ext cx="1828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keyword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(online)</a:t>
            </a:r>
            <a:endParaRPr lang="en-US" sz="1100" dirty="0"/>
          </a:p>
        </p:txBody>
      </p:sp>
      <p:sp>
        <p:nvSpPr>
          <p:cNvPr id="16" name="nod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606040"/>
            <a:ext cx="1828800" cy="731520"/>
          </a:xfrm>
          <a:prstGeom prst="rect">
            <a:avLst/>
          </a:prstGeom>
          <a:solidFill>
            <a:srgbClr val="16344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548640" y="2606040"/>
            <a:ext cx="1828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rewrite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aware</a:t>
            </a:r>
            <a:endParaRPr lang="en-US" sz="1200" dirty="0"/>
          </a:p>
        </p:txBody>
      </p:sp>
      <p:sp>
        <p:nvSpPr>
          <p:cNvPr id="18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04872" y="2889504"/>
            <a:ext cx="146304" cy="164592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nod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96896" y="2606040"/>
            <a:ext cx="1828800" cy="731520"/>
          </a:xfrm>
          <a:prstGeom prst="rect">
            <a:avLst/>
          </a:prstGeom>
          <a:solidFill>
            <a:srgbClr val="16344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2596896" y="2606040"/>
            <a:ext cx="1828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 search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BM25</a:t>
            </a:r>
            <a:endParaRPr lang="en-US" sz="1200" dirty="0"/>
          </a:p>
        </p:txBody>
      </p:sp>
      <p:sp>
        <p:nvSpPr>
          <p:cNvPr id="21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53128" y="2889504"/>
            <a:ext cx="146304" cy="164592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2" name="nod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2606040"/>
            <a:ext cx="1828800" cy="731520"/>
          </a:xfrm>
          <a:prstGeom prst="rect">
            <a:avLst/>
          </a:prstGeom>
          <a:solidFill>
            <a:srgbClr val="16344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4645152" y="2606040"/>
            <a:ext cx="1828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Rerank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200" dirty="0"/>
          </a:p>
        </p:txBody>
      </p:sp>
      <p:sp>
        <p:nvSpPr>
          <p:cNvPr id="24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01384" y="2889504"/>
            <a:ext cx="146304" cy="164592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nod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3408" y="2606040"/>
            <a:ext cx="1828800" cy="731520"/>
          </a:xfrm>
          <a:prstGeom prst="rect">
            <a:avLst/>
          </a:prstGeom>
          <a:solidFill>
            <a:srgbClr val="16344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/>
          <p:nvPr/>
        </p:nvSpPr>
        <p:spPr>
          <a:xfrm>
            <a:off x="6693408" y="2606040"/>
            <a:ext cx="18288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6118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quality, not model size, is the usual bottleneck — measure recall before swapping models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every claim: return citations and let the model abstain when evidence is thin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321040" y="4617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and Tool Use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a control loop around the model: plan, act, observe, repeat until a stop condition.</a:t>
            </a:r>
            <a:endParaRPr lang="en-US" sz="1250" dirty="0"/>
          </a:p>
        </p:txBody>
      </p:sp>
      <p:sp>
        <p:nvSpPr>
          <p:cNvPr id="4" name="nod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63040"/>
            <a:ext cx="1828800" cy="86868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Plan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goal</a:t>
            </a:r>
            <a:endParaRPr lang="en-US" sz="1200" dirty="0"/>
          </a:p>
        </p:txBody>
      </p:sp>
      <p:sp>
        <p:nvSpPr>
          <p:cNvPr id="6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04872" y="1828800"/>
            <a:ext cx="146304" cy="164592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nod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96896" y="1463040"/>
            <a:ext cx="1828800" cy="86868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2596896" y="146304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Act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tool</a:t>
            </a:r>
            <a:endParaRPr lang="en-US" sz="1200" dirty="0"/>
          </a:p>
        </p:txBody>
      </p:sp>
      <p:sp>
        <p:nvSpPr>
          <p:cNvPr id="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53128" y="1828800"/>
            <a:ext cx="146304" cy="164592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nod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463040"/>
            <a:ext cx="1828800" cy="86868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4645152" y="146304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Observe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result</a:t>
            </a:r>
            <a:endParaRPr lang="en-US" sz="1200" dirty="0"/>
          </a:p>
        </p:txBody>
      </p:sp>
      <p:sp>
        <p:nvSpPr>
          <p:cNvPr id="12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01384" y="1828800"/>
            <a:ext cx="146304" cy="164592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3" name="node box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93408" y="1463040"/>
            <a:ext cx="1828800" cy="86868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6693408" y="1463040"/>
            <a:ext cx="18288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Reflect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or stop</a:t>
            </a:r>
            <a:endParaRPr lang="en-US" sz="1200" dirty="0"/>
          </a:p>
        </p:txBody>
      </p:sp>
      <p:sp>
        <p:nvSpPr>
          <p:cNvPr id="15" name="loop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63040" y="233172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16" name="loop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63040" y="2606040"/>
            <a:ext cx="5705856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  <p:txBody>
          <a:bodyPr/>
          <a:lstStyle/>
          <a:p>
            <a:endParaRPr lang="cs-CZ"/>
          </a:p>
        </p:txBody>
      </p:sp>
      <p:sp>
        <p:nvSpPr>
          <p:cNvPr id="17" name="loop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95744" y="2331720"/>
            <a:ext cx="146304" cy="274320"/>
          </a:xfrm>
          <a:prstGeom prst="upArrow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8" name="Text 16"/>
          <p:cNvSpPr/>
          <p:nvPr/>
        </p:nvSpPr>
        <p:spPr>
          <a:xfrm>
            <a:off x="1828800" y="26334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— bounded by step, time and cost budgets</a:t>
            </a:r>
            <a:endParaRPr lang="en-US" sz="1000" dirty="0"/>
          </a:p>
        </p:txBody>
      </p:sp>
      <p:sp>
        <p:nvSpPr>
          <p:cNvPr id="19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154680"/>
            <a:ext cx="2560320" cy="118872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73152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schemas, idempotent calls, explicit permissions</a:t>
            </a:r>
            <a:endParaRPr lang="en-US" sz="1100" dirty="0"/>
          </a:p>
        </p:txBody>
      </p:sp>
      <p:sp>
        <p:nvSpPr>
          <p:cNvPr id="2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1840" y="3154680"/>
            <a:ext cx="2560320" cy="118872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3" name="Text 21"/>
          <p:cNvSpPr/>
          <p:nvPr/>
        </p:nvSpPr>
        <p:spPr>
          <a:xfrm>
            <a:off x="347472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scratchpad, long-term store, session state</a:t>
            </a:r>
            <a:endParaRPr lang="en-US" sz="1100" dirty="0"/>
          </a:p>
        </p:txBody>
      </p:sp>
      <p:sp>
        <p:nvSpPr>
          <p:cNvPr id="25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5040" y="3154680"/>
            <a:ext cx="2560320" cy="118872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/>
          <p:nvPr/>
        </p:nvSpPr>
        <p:spPr>
          <a:xfrm>
            <a:off x="621792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limits, human approval on side effects, replayable traces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21040" y="4617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 and the Control Plane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gateway owns auth, quotas, routing and audit — never let apps call providers directly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 sends cheap traffic to small models and escalates only hard requests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and context assembly is versioned code, not strings scattered across services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and prefix caching cut both latency and spend on repeated traffic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across providers and regions keep the system available when one endpoint degrades</a:t>
            </a:r>
            <a:endParaRPr lang="en-US" sz="1350" dirty="0"/>
          </a:p>
        </p:txBody>
      </p:sp>
      <p:sp>
        <p:nvSpPr>
          <p:cNvPr id="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69280" y="1051560"/>
            <a:ext cx="2926080" cy="329184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585216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 LIFECYCLE</a:t>
            </a:r>
            <a:endParaRPr lang="en-US" sz="1100" dirty="0"/>
          </a:p>
        </p:txBody>
      </p:sp>
      <p:sp>
        <p:nvSpPr>
          <p:cNvPr id="6" name="step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164592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6217920" y="15727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request</a:t>
            </a:r>
            <a:endParaRPr lang="en-US" sz="1100" dirty="0"/>
          </a:p>
        </p:txBody>
      </p:sp>
      <p:sp>
        <p:nvSpPr>
          <p:cNvPr id="8" name="step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210312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9" name="Text 7"/>
          <p:cNvSpPr/>
          <p:nvPr/>
        </p:nvSpPr>
        <p:spPr>
          <a:xfrm>
            <a:off x="6217920" y="20299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+ quota check</a:t>
            </a:r>
            <a:endParaRPr lang="en-US" sz="1100" dirty="0"/>
          </a:p>
        </p:txBody>
      </p:sp>
      <p:sp>
        <p:nvSpPr>
          <p:cNvPr id="10" name="step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256032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6217920" y="24871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lookup</a:t>
            </a:r>
            <a:endParaRPr lang="en-US" sz="1100" dirty="0"/>
          </a:p>
        </p:txBody>
      </p:sp>
      <p:sp>
        <p:nvSpPr>
          <p:cNvPr id="12" name="step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301752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3" name="Text 11"/>
          <p:cNvSpPr/>
          <p:nvPr/>
        </p:nvSpPr>
        <p:spPr>
          <a:xfrm>
            <a:off x="6217920" y="29443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</a:t>
            </a:r>
            <a:endParaRPr lang="en-US" sz="1100" dirty="0"/>
          </a:p>
        </p:txBody>
      </p:sp>
      <p:sp>
        <p:nvSpPr>
          <p:cNvPr id="14" name="step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347472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6217920" y="34015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check</a:t>
            </a:r>
            <a:endParaRPr lang="en-US" sz="1100" dirty="0"/>
          </a:p>
        </p:txBody>
      </p:sp>
      <p:sp>
        <p:nvSpPr>
          <p:cNvPr id="16" name="step d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43600" y="393192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17" name="Text 15"/>
          <p:cNvSpPr/>
          <p:nvPr/>
        </p:nvSpPr>
        <p:spPr>
          <a:xfrm>
            <a:off x="6217920" y="38587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trace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4617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 and Observability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FA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operate what you cannot measure — evaluation is part of the architecture, not an afterthought.</a:t>
            </a:r>
            <a:endParaRPr lang="en-US" sz="1250" dirty="0"/>
          </a:p>
        </p:txBody>
      </p:sp>
      <p:sp>
        <p:nvSpPr>
          <p:cNvPr id="4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417320"/>
            <a:ext cx="3886200" cy="128016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777240" y="15819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 evals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golden sets, task-specific scorers, regression gates in CI</a:t>
            </a:r>
            <a:endParaRPr lang="en-US" sz="1150" dirty="0"/>
          </a:p>
        </p:txBody>
      </p:sp>
      <p:sp>
        <p:nvSpPr>
          <p:cNvPr id="7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417320"/>
            <a:ext cx="3886200" cy="1280160"/>
          </a:xfrm>
          <a:prstGeom prst="rect">
            <a:avLst/>
          </a:prstGeom>
          <a:solidFill>
            <a:srgbClr val="16344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4937760" y="15819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LLM-as-judge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rubric scoring, calibrated against human labels</a:t>
            </a:r>
            <a:endParaRPr lang="en-US" sz="1150" dirty="0"/>
          </a:p>
        </p:txBody>
      </p:sp>
      <p:sp>
        <p:nvSpPr>
          <p:cNvPr id="1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926080"/>
            <a:ext cx="3886200" cy="128016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777240" y="30906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 signals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4747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Thumbs, edits, task completion, escalation to a human</a:t>
            </a:r>
            <a:endParaRPr lang="en-US" sz="1150" dirty="0"/>
          </a:p>
        </p:txBody>
      </p:sp>
      <p:sp>
        <p:nvSpPr>
          <p:cNvPr id="13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926080"/>
            <a:ext cx="3886200" cy="1280160"/>
          </a:xfrm>
          <a:prstGeom prst="rect">
            <a:avLst/>
          </a:prstGeom>
          <a:solidFill>
            <a:srgbClr val="16344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4937760" y="30906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4747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prompt, retrieval, tool call and token cost stored and replayable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21040" y="4617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9260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Guardrails and Operations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DEFENCE IN DEPTH</a:t>
            </a:r>
            <a:endParaRPr lang="en-US" sz="1100" dirty="0"/>
          </a:p>
        </p:txBody>
      </p:sp>
      <p:sp>
        <p:nvSpPr>
          <p:cNvPr id="4" name="guard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325880"/>
            <a:ext cx="4023360" cy="64008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325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· injection detection</a:t>
            </a:r>
            <a:endParaRPr lang="en-US" sz="1100" dirty="0"/>
          </a:p>
        </p:txBody>
      </p:sp>
      <p:sp>
        <p:nvSpPr>
          <p:cNvPr id="7" name="guard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103120"/>
            <a:ext cx="4023360" cy="64008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83080" y="21031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data access</a:t>
            </a:r>
            <a:endParaRPr lang="en-US" sz="1100" dirty="0"/>
          </a:p>
        </p:txBody>
      </p:sp>
      <p:sp>
        <p:nvSpPr>
          <p:cNvPr id="10" name="guard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880360"/>
            <a:ext cx="4023360" cy="64008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83080" y="2880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filters · schema validation</a:t>
            </a:r>
            <a:endParaRPr lang="en-US" sz="1100" dirty="0"/>
          </a:p>
        </p:txBody>
      </p:sp>
      <p:sp>
        <p:nvSpPr>
          <p:cNvPr id="13" name="guard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657600"/>
            <a:ext cx="4023360" cy="640080"/>
          </a:xfrm>
          <a:prstGeom prst="rect">
            <a:avLst/>
          </a:prstGeom>
          <a:solidFill>
            <a:srgbClr val="10283F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83080" y="3657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before side effects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OPERATING CONCERNS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1325880"/>
            <a:ext cx="3703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 around GPU availability and quota, not just cost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budgets and rate limits to contain runaway agent loops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 model upgrades — pin versions, evaluate, then shift traffic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playbooks for degraded quality, not only for downtime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21040" y="4617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to Build First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 before features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1463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point for routing, quotas, guardrails and traces.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267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2677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Retrieval before scale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0" y="22677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context beats a bigger model in most enterprise tasks.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0723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307238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Evals before agents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3072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only safe once quality is measurable and gated.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877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87705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Budgets before rollout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97680" y="38770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and cost targets per use case, enforced in the platform.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756</Words>
  <Application>Microsoft Office PowerPoint</Application>
  <PresentationFormat>Předvádění na obrazovce (16:9)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Architecture of Modern LLM Systems</vt:lpstr>
      <vt:lpstr>Reference Architecture</vt:lpstr>
      <vt:lpstr>The Model Layer</vt:lpstr>
      <vt:lpstr>Serving and Inference Path</vt:lpstr>
      <vt:lpstr>Retrieval-Augmented Generation</vt:lpstr>
      <vt:lpstr>Agents and Tool Use</vt:lpstr>
      <vt:lpstr>Orchestration and the Control Plane</vt:lpstr>
      <vt:lpstr>Evaluation and Observability</vt:lpstr>
      <vt:lpstr>Guardrails and Operations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Melka</dc:creator>
  <cp:lastModifiedBy>Jakub Melka</cp:lastModifiedBy>
  <cp:revision>1</cp:revision>
  <dcterms:created xsi:type="dcterms:W3CDTF">2026-08-02T16:40:06Z</dcterms:created>
  <dcterms:modified xsi:type="dcterms:W3CDTF">2026-08-02T16:42:08Z</dcterms:modified>
</cp:coreProperties>
</file>