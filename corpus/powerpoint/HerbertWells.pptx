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89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itl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51560"/>
            <a:ext cx="8046720" cy="2743200"/>
          </a:xfrm>
          <a:prstGeom prst="rect">
            <a:avLst/>
          </a:prstGeom>
          <a:solidFill>
            <a:srgbClr val="1A222C"/>
          </a:solidFill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1005840" y="1371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LITERARY CLUB PRESENTATION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17373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H. G. Wells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1005840" y="2606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5D6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Engineer of Modern Imagination</a:t>
            </a:r>
            <a:endParaRPr lang="en-US" sz="2000" dirty="0"/>
          </a:p>
        </p:txBody>
      </p:sp>
      <p:sp>
        <p:nvSpPr>
          <p:cNvPr id="36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154680"/>
            <a:ext cx="201168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1005840" y="32918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1866–1946  ·  Scientific romances, social novels, and the future as a subject</a:t>
            </a:r>
            <a:endParaRPr lang="en-US" sz="1200" dirty="0"/>
          </a:p>
        </p:txBody>
      </p:sp>
      <p:sp>
        <p:nvSpPr>
          <p:cNvPr id="3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 G. WELLS · THE WORK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3931920" cy="114300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45720" cy="114300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77724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&amp; Context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draper's apprentice to public intellectual</a:t>
            </a:r>
            <a:endParaRPr lang="en-US" sz="1100" dirty="0"/>
          </a:p>
        </p:txBody>
      </p:sp>
      <p:sp>
        <p:nvSpPr>
          <p:cNvPr id="3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91640"/>
            <a:ext cx="3931920" cy="114300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91640"/>
            <a:ext cx="45720" cy="114300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489204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92040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 Romances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9204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novels that invented a genre</a:t>
            </a:r>
            <a:endParaRPr lang="en-US" sz="1100" dirty="0"/>
          </a:p>
        </p:txBody>
      </p:sp>
      <p:sp>
        <p:nvSpPr>
          <p:cNvPr id="4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3931920" cy="114300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45720" cy="114300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77724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502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Themes &amp; Motifs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7240" y="3794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Evolution, class, empire, utopia</a:t>
            </a:r>
            <a:endParaRPr lang="en-US" sz="1100" dirty="0"/>
          </a:p>
        </p:txBody>
      </p:sp>
      <p:sp>
        <p:nvSpPr>
          <p:cNvPr id="4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63240"/>
            <a:ext cx="3931920" cy="114300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63240"/>
            <a:ext cx="45720" cy="114300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8" name="Text 46"/>
          <p:cNvSpPr/>
          <p:nvPr/>
        </p:nvSpPr>
        <p:spPr>
          <a:xfrm>
            <a:off x="489204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892040" y="3502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 Influence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892040" y="3794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work still reads as urgent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&amp; Context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&amp; CONTEXT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169164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Born in Bromley, Kent, in 1866 to a shopkeeping family; poverty and a broken leg made him a reader.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 a scholarship to the Normal School of Science, where he studied biology under T. H. Huxley.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Began as a science teacher and journalist before turning to fiction in the 1890s.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Became a Fabian socialist, public commentator, and one of the most widely read authors of his age.</a:t>
            </a:r>
            <a:endParaRPr lang="en-US" sz="14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691640"/>
            <a:ext cx="2697480" cy="2651760"/>
          </a:xfrm>
          <a:prstGeom prst="rect">
            <a:avLst/>
          </a:prstGeom>
          <a:solidFill>
            <a:srgbClr val="1A222C"/>
          </a:solidFill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617220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DATES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212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Born in Bromley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 under Huxley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29077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Time Machine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32552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Joins the Fabians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6027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3602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Outline of 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950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Dies in London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&amp; CONTEXT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Scientific Education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&amp; CONTEXT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2560320" cy="246888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2560320" cy="45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804672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after Darwin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Wells absorbed evolution not as progress but as indifferent change — species rise and fall without purpose.</a:t>
            </a:r>
            <a:endParaRPr lang="en-US" sz="1200" dirty="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37360"/>
            <a:ext cx="2560320" cy="246888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37360"/>
            <a:ext cx="2560320" cy="45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3547872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Trained Outsider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47872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Science gave him authority; his class origins gave him the anger. Both feed the fiction.</a:t>
            </a:r>
            <a:endParaRPr lang="en-US" sz="1200" dirty="0"/>
          </a:p>
        </p:txBody>
      </p:sp>
      <p:sp>
        <p:nvSpPr>
          <p:cNvPr id="3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737360"/>
            <a:ext cx="2560320" cy="246888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737360"/>
            <a:ext cx="2560320" cy="45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6291072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Journalism First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91072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Essays like "The Rediscovery of the Unique" rehearsed ideas he later dramatised in novels.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2331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 Romances</a:t>
            </a:r>
            <a:endParaRPr lang="en-US" sz="3800" dirty="0"/>
          </a:p>
        </p:txBody>
      </p:sp>
      <p:sp>
        <p:nvSpPr>
          <p:cNvPr id="3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SCIENTIFIC ROMANCES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Time Machine (1895)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SCIENTIFIC ROMANCES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16916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nameless Time Traveller journeys to the year 802,701 and finds humanity split into the effete Eloi and the subterranean Morlocks.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class division of Victorian England is projected forward as biological speciation.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 not in triumph but on a dying beach beneath a swollen red sun — entropy, not progress.</a:t>
            </a:r>
            <a:endParaRPr lang="en-US" sz="1400" dirty="0"/>
          </a:p>
        </p:txBody>
      </p:sp>
      <p:sp>
        <p:nvSpPr>
          <p:cNvPr id="32" name="qu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691640"/>
            <a:ext cx="2788920" cy="2651760"/>
          </a:xfrm>
          <a:prstGeom prst="rect">
            <a:avLst/>
          </a:prstGeom>
          <a:solidFill>
            <a:srgbClr val="1A222C"/>
          </a:solidFill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6035040" y="1965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saw a richer green flow up the hillside, and remain there, without any wintry intermission.”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The Time Machine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NOVELS 02–03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Moreau and the Invisible Man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SCIENTIFIC ROMANCES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3931920" cy="251460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45720" cy="251460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822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22128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Island of Doctor Moreau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822960" y="28803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vivisectionist carves animals into men on a Pacific island. Wells asks what separates the human from the beast — and answers: very little, and only by force.</a:t>
            </a:r>
            <a:endParaRPr lang="en-US" sz="1200" dirty="0"/>
          </a:p>
        </p:txBody>
      </p:sp>
      <p:sp>
        <p:nvSpPr>
          <p:cNvPr id="3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737360"/>
            <a:ext cx="3931920" cy="251460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737360"/>
            <a:ext cx="45720" cy="251460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49377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22128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Invisible Man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4937760" y="28803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Griffin's discovery brings not freedom but exile. Power without accountability degrades into terror; the scientist becomes the monster.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War of the Worlds (1898)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SCIENTIFIC ROMANCES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31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Invasion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108960" y="194767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Martian cylinders land in Surrey; the machinery of empire is turned on its inventors.</a:t>
            </a:r>
            <a:endParaRPr lang="en-US" sz="1200" dirty="0"/>
          </a:p>
        </p:txBody>
      </p:sp>
      <p:sp>
        <p:nvSpPr>
          <p:cNvPr id="35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8016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Collapse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108960" y="29077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Wells destroys the ordinary English suburb with documentary calm — a technique still copied.</a:t>
            </a:r>
            <a:endParaRPr lang="en-US" sz="1200" dirty="0"/>
          </a:p>
        </p:txBody>
      </p:sp>
      <p:sp>
        <p:nvSpPr>
          <p:cNvPr id="39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Text 38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80160" y="3858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108960" y="386791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invaders fall to bacteria: humanity is saved by biology, not heroism.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05 &amp; THE SOCIAL FICTION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Romances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SCIENTIFIC ROMANCES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16916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First Men in the Moon (1901) — a satirical anatomy of the Selenite hive, each citizen bred for a single function.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Kipps (1905) and The History of Mr Polly (1910) — comic, tender novels of lower-middle-class life drawn from Wells's own apprenticeship.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Tono-Bungay (1909) — his most ambitious realist novel, an indictment of quack capitalism and inherited England.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Outline of History (1920) — non-fiction that made him a global public educator.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A222C"/>
          </a:solidFill>
          <a:ln w="12700">
            <a:solidFill>
              <a:srgbClr val="1A222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2331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Themes &amp; Motifs</a:t>
            </a:r>
            <a:endParaRPr lang="en-US" sz="3800" dirty="0"/>
          </a:p>
        </p:txBody>
      </p:sp>
      <p:sp>
        <p:nvSpPr>
          <p:cNvPr id="3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 &amp; MOTIFS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Recurring Preoccupations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 &amp; MOTIFS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3931920" cy="36576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804672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without Comfort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" y="2221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has no direction and no promise. Humanity is a stage, not a destination.</a:t>
            </a:r>
            <a:endParaRPr lang="en-US" sz="1200" dirty="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916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91640"/>
            <a:ext cx="3931920" cy="36576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4919472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as Biology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19472" y="2221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division hardens into physical difference — Eloi and Morlock, Selenite castes.</a:t>
            </a:r>
            <a:endParaRPr lang="en-US" sz="1200" dirty="0"/>
          </a:p>
        </p:txBody>
      </p:sp>
      <p:sp>
        <p:nvSpPr>
          <p:cNvPr id="3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3931920" cy="36576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804672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Ethics of Knowledge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4672" y="35935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Moreau and Griffin ask what a discovery is worth when no one restrains the discoverer.</a:t>
            </a:r>
            <a:endParaRPr lang="en-US" sz="1200" dirty="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632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63240"/>
            <a:ext cx="3931920" cy="36576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4919472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Utopia and Its Price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19472" y="35935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Modern Utopia imagines the planned world state — and the freedoms it would cost.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Novels Work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 &amp; MOTIFS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73352"/>
            <a:ext cx="45720" cy="54864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822960" y="16550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impossible premise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165506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Wells grants himself a single miracle — a machine, a serum, an invader — then reasons strictly from it.</a:t>
            </a:r>
            <a:endParaRPr lang="en-US" sz="1200" dirty="0"/>
          </a:p>
        </p:txBody>
      </p:sp>
      <p:sp>
        <p:nvSpPr>
          <p:cNvPr id="34" name="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45720" cy="54864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822960" y="23134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ordinary witness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20440" y="231343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Narrators are unremarkable Englishmen, which makes the catastrophe measurable and believable.</a:t>
            </a:r>
            <a:endParaRPr lang="en-US" sz="1200" dirty="0"/>
          </a:p>
        </p:txBody>
      </p:sp>
      <p:sp>
        <p:nvSpPr>
          <p:cNvPr id="37" name="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90088"/>
            <a:ext cx="45720" cy="54864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82296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Documentary voice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20440" y="29718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names, timetables and newspaper detail lend the fantastic the texture of reportage.</a:t>
            </a:r>
            <a:endParaRPr lang="en-US" sz="1200" dirty="0"/>
          </a:p>
        </p:txBody>
      </p:sp>
      <p:sp>
        <p:nvSpPr>
          <p:cNvPr id="40" name="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48456"/>
            <a:ext cx="45720" cy="54864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822960" y="3630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withheld ending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520440" y="363016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Endings refuse consolation; the reader is left holding the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 Influence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 &amp; INFLUENCE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91640"/>
            <a:ext cx="45720" cy="1188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804672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the genre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" y="2221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Verne, Wells set the template for science fiction: extrapolation as moral argument.</a:t>
            </a:r>
            <a:endParaRPr lang="en-US" sz="1200" dirty="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916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91640"/>
            <a:ext cx="45720" cy="1188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4919472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19472" y="2221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Orson Welles's 1938 radio broadcast, and a century of film and television, kept the stories in circulation.</a:t>
            </a:r>
            <a:endParaRPr lang="en-US" sz="1200" dirty="0"/>
          </a:p>
        </p:txBody>
      </p:sp>
      <p:sp>
        <p:nvSpPr>
          <p:cNvPr id="3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45720" cy="1188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804672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imagination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4672" y="35935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 world-state writing fed debates that ran through to the United Nations era.</a:t>
            </a:r>
            <a:endParaRPr lang="en-US" sz="1200" dirty="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63240"/>
            <a:ext cx="3931920" cy="1188720"/>
          </a:xfrm>
          <a:prstGeom prst="rect">
            <a:avLst/>
          </a:prstGeom>
          <a:solidFill>
            <a:srgbClr val="1A222C"/>
          </a:solidFill>
          <a:ln w="1270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63240"/>
            <a:ext cx="45720" cy="1188720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4919472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Descendants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19472" y="35935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Huxley, Orwell, Stapledon, Ballard and Le Guin all wrote in the space Wells opened.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grid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2430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CLUB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Discussion</a:t>
            </a:r>
            <a:endParaRPr lang="en-US" sz="3000" dirty="0"/>
          </a:p>
        </p:txBody>
      </p:sp>
      <p:sp>
        <p:nvSpPr>
          <p:cNvPr id="2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89888"/>
            <a:ext cx="1005840" cy="32004"/>
          </a:xfrm>
          <a:prstGeom prst="rect">
            <a:avLst/>
          </a:prstGeom>
          <a:solidFill>
            <a:srgbClr val="35D6E8"/>
          </a:solidFill>
          <a:ln w="12700">
            <a:solidFill>
              <a:srgbClr val="35D6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1E7F8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5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16916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Wells a pessimist about science, or only about the people who hold it?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the scientific romances survive better than the social novels — and why?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of his futures now reads as prophecy, and which as period costume?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would you start a reader who has only seen the films?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5D6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“Adapt or perish, now as ever, is nature's inexorable imperative.”  — H. G. Wells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975</Words>
  <Application>Microsoft Office PowerPoint</Application>
  <PresentationFormat>Předvádění na obrazovce (16:9)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Melka</dc:creator>
  <cp:lastModifiedBy>Jakub Melka</cp:lastModifiedBy>
  <cp:revision>1</cp:revision>
  <dcterms:created xsi:type="dcterms:W3CDTF">2026-08-02T16:47:57Z</dcterms:created>
  <dcterms:modified xsi:type="dcterms:W3CDTF">2026-08-02T16:48:58Z</dcterms:modified>
</cp:coreProperties>
</file>