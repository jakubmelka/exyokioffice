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99" d="100"/>
          <a:sy n="99" d="100"/>
        </p:scale>
        <p:origin x="1020" y="7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57400"/>
            <a:ext cx="4846320" cy="1188720"/>
          </a:xfrm>
          <a:prstGeom prst="rect">
            <a:avLst/>
          </a:prstGeom>
          <a:noFill/>
          <a:ln/>
        </p:spPr>
        <p:txBody>
          <a:bodyPr wrap="square" rtlCol="0"/>
          <a:lstStyle>
            <a:lvl1pPr marL="0" indent="0">
              <a:buNone/>
              <a:defRPr lang="en-US" sz="4000" b="1" dirty="0">
                <a:solidFill>
                  <a:srgbClr val="1F4D2E"/>
                </a:solidFill>
                <a:latin typeface="Georgia" pitchFamily="34" charset="0"/>
                <a:ea typeface="Georgia" pitchFamily="34" charset="-122"/>
                <a:cs typeface="Georgia" pitchFamily="34" charset="-120"/>
              </a:defRPr>
            </a:lvl1pPr>
          </a:lstStyle>
          <a:p>
            <a:pPr marL="0" indent="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11680"/>
            <a:ext cx="8046720" cy="914400"/>
          </a:xfrm>
          <a:prstGeom prst="rect">
            <a:avLst/>
          </a:prstGeom>
          <a:noFill/>
          <a:ln/>
        </p:spPr>
        <p:txBody>
          <a:bodyPr wrap="square" rtlCol="0"/>
          <a:lstStyle>
            <a:lvl1pPr marL="0" indent="0" algn="ctr">
              <a:buNone/>
              <a:defRPr lang="en-US" sz="3800" b="1" dirty="0">
                <a:solidFill>
                  <a:srgbClr val="FFFFFF"/>
                </a:solidFill>
                <a:latin typeface="Georgia" pitchFamily="34" charset="0"/>
                <a:ea typeface="Georgia" pitchFamily="34" charset="-122"/>
                <a:cs typeface="Georgia" pitchFamily="34" charset="-120"/>
              </a:defRPr>
            </a:lvl1pPr>
          </a:lstStyle>
          <a:p>
            <a:pPr marL="0" indent="0" algn="ctr">
              <a:buNone/>
            </a:pPr>
            <a:endParaRPr lang="en-US" sz="3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1F4D2E"/>
          </a:solidFill>
          <a:ln/>
        </p:spPr>
      </p:sp>
      <p:sp>
        <p:nvSpPr>
          <p:cNvPr id="3" name="Text 1"/>
          <p:cNvSpPr>
            <a:spLocks noGrp="1"/>
          </p:cNvSpPr>
          <p:nvPr>
            <p:ph type="title" idx="101" hasCustomPrompt="1"/>
          </p:nvPr>
        </p:nvSpPr>
        <p:spPr>
          <a:xfrm>
            <a:off x="548640" y="411480"/>
            <a:ext cx="8046720" cy="640080"/>
          </a:xfrm>
          <a:prstGeom prst="rect">
            <a:avLst/>
          </a:prstGeom>
          <a:noFill/>
          <a:ln/>
        </p:spPr>
        <p:txBody>
          <a:bodyPr wrap="square" rtlCol="0"/>
          <a:lstStyle>
            <a:lvl1pPr marL="0" indent="0">
              <a:buNone/>
              <a:defRPr lang="en-US" sz="2800" b="1" dirty="0">
                <a:solidFill>
                  <a:srgbClr val="1F4D2E"/>
                </a:solidFill>
                <a:latin typeface="Georgia" pitchFamily="34" charset="0"/>
                <a:ea typeface="Georgia" pitchFamily="34" charset="-122"/>
                <a:cs typeface="Georgia" pitchFamily="34" charset="-120"/>
              </a:defRPr>
            </a:lvl1pPr>
          </a:lstStyle>
          <a:p>
            <a:pPr marL="0" indent="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6950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erial view of Grand Prismatic Spring with orange and blue thermal rings"/>
          <p:cNvPicPr>
            <a:picLocks noChangeAspect="1"/>
          </p:cNvPicPr>
          <p:nvPr/>
        </p:nvPicPr>
        <p:blipFill>
          <a:blip r:embed="rId3"/>
          <a:srcRect l="26889" r="26889"/>
          <a:stretch/>
        </p:blipFill>
        <p:spPr>
          <a:xfrm>
            <a:off x="5577840" y="0"/>
            <a:ext cx="3566160" cy="5143500"/>
          </a:xfrm>
          <a:prstGeom prst="rect">
            <a:avLst/>
          </a:prstGeom>
        </p:spPr>
      </p:pic>
      <p:sp>
        <p:nvSpPr>
          <p:cNvPr id="3" name="Accent rule">
            <a:extLst>
              <a:ext uri="{C183D7F6-B498-43B3-948B-1728B52AA6E4}">
                <adec:decorative xmlns:adec="http://schemas.microsoft.com/office/drawing/2017/decorative" val="1"/>
              </a:ext>
            </a:extLst>
          </p:cNvPr>
          <p:cNvSpPr/>
          <p:nvPr/>
        </p:nvSpPr>
        <p:spPr>
          <a:xfrm>
            <a:off x="548640" y="1600200"/>
            <a:ext cx="1005840" cy="82296"/>
          </a:xfrm>
          <a:prstGeom prst="rect">
            <a:avLst/>
          </a:prstGeom>
          <a:solidFill>
            <a:srgbClr val="D4A017"/>
          </a:solidFill>
          <a:ln/>
        </p:spPr>
        <p:txBody>
          <a:bodyPr/>
          <a:lstStyle/>
          <a:p>
            <a:endParaRPr lang="cs-CZ"/>
          </a:p>
        </p:txBody>
      </p:sp>
      <p:sp>
        <p:nvSpPr>
          <p:cNvPr id="4" name="Text 1"/>
          <p:cNvSpPr/>
          <p:nvPr/>
        </p:nvSpPr>
        <p:spPr>
          <a:xfrm>
            <a:off x="548640" y="1005840"/>
            <a:ext cx="4846320" cy="365760"/>
          </a:xfrm>
          <a:prstGeom prst="rect">
            <a:avLst/>
          </a:prstGeom>
          <a:noFill/>
          <a:ln/>
        </p:spPr>
        <p:txBody>
          <a:bodyPr wrap="square" lIns="0" tIns="0" rIns="0" bIns="0" rtlCol="0" anchor="ctr"/>
          <a:lstStyle/>
          <a:p>
            <a:pPr marL="0" indent="0">
              <a:buNone/>
            </a:pPr>
            <a:r>
              <a:rPr lang="en-US" sz="1200" b="1" kern="0" spc="400" dirty="0">
                <a:solidFill>
                  <a:srgbClr val="3C7A52"/>
                </a:solidFill>
                <a:latin typeface="Verdana" pitchFamily="34" charset="0"/>
                <a:ea typeface="Verdana" pitchFamily="34" charset="-122"/>
                <a:cs typeface="Verdana" pitchFamily="34" charset="-120"/>
              </a:rPr>
              <a:t>A VISITOR'S GUIDE</a:t>
            </a:r>
            <a:endParaRPr lang="en-US" sz="1200" dirty="0"/>
          </a:p>
        </p:txBody>
      </p:sp>
      <p:sp>
        <p:nvSpPr>
          <p:cNvPr id="5" name="Text 0"/>
          <p:cNvSpPr>
            <a:spLocks noGrp="1"/>
          </p:cNvSpPr>
          <p:nvPr>
            <p:ph type="title" idx="100" hasCustomPrompt="1"/>
          </p:nvPr>
        </p:nvSpPr>
        <p:spPr>
          <a:xfrm>
            <a:off x="548640" y="2057400"/>
            <a:ext cx="4846320" cy="1188720"/>
          </a:xfrm>
          <a:prstGeom prst="rect">
            <a:avLst/>
          </a:prstGeom>
          <a:noFill/>
          <a:ln/>
        </p:spPr>
        <p:txBody>
          <a:bodyPr wrap="square" lIns="0" tIns="0" rIns="0" bIns="0" rtlCol="0" anchor="ctr"/>
          <a:lstStyle/>
          <a:p>
            <a:pPr marL="0" indent="0">
              <a:buNone/>
            </a:pPr>
            <a:r>
              <a:rPr lang="en-US" sz="4000" b="1" dirty="0">
                <a:solidFill>
                  <a:srgbClr val="1F4D2E"/>
                </a:solidFill>
                <a:latin typeface="Georgia" pitchFamily="34" charset="0"/>
                <a:ea typeface="Georgia" pitchFamily="34" charset="-122"/>
                <a:cs typeface="Georgia" pitchFamily="34" charset="-120"/>
              </a:rPr>
              <a:t>Yellowstone</a:t>
            </a:r>
            <a:endParaRPr lang="en-US" sz="4000" dirty="0"/>
          </a:p>
          <a:p>
            <a:pPr marL="0" indent="0">
              <a:buNone/>
            </a:pPr>
            <a:r>
              <a:rPr lang="en-US" sz="4000" b="1" dirty="0">
                <a:solidFill>
                  <a:srgbClr val="1F4D2E"/>
                </a:solidFill>
                <a:latin typeface="Georgia" pitchFamily="34" charset="0"/>
                <a:ea typeface="Georgia" pitchFamily="34" charset="-122"/>
                <a:cs typeface="Georgia" pitchFamily="34" charset="-120"/>
              </a:rPr>
              <a:t>National Park</a:t>
            </a:r>
            <a:endParaRPr lang="en-US" sz="4000" dirty="0"/>
          </a:p>
        </p:txBody>
      </p:sp>
      <p:sp>
        <p:nvSpPr>
          <p:cNvPr id="6" name="Text 3"/>
          <p:cNvSpPr/>
          <p:nvPr/>
        </p:nvSpPr>
        <p:spPr>
          <a:xfrm>
            <a:off x="548640" y="3429000"/>
            <a:ext cx="4663440" cy="914400"/>
          </a:xfrm>
          <a:prstGeom prst="rect">
            <a:avLst/>
          </a:prstGeom>
          <a:noFill/>
          <a:ln/>
        </p:spPr>
        <p:txBody>
          <a:bodyPr wrap="square" lIns="0" tIns="0" rIns="0" bIns="0" rtlCol="0" anchor="ctr"/>
          <a:lstStyle/>
          <a:p>
            <a:pPr marL="0" indent="0">
              <a:lnSpc>
                <a:spcPts val="2000"/>
              </a:lnSpc>
              <a:buNone/>
            </a:pPr>
            <a:r>
              <a:rPr lang="en-US" sz="1200" dirty="0">
                <a:solidFill>
                  <a:srgbClr val="6B7472"/>
                </a:solidFill>
                <a:latin typeface="Verdana" pitchFamily="34" charset="0"/>
                <a:ea typeface="Verdana" pitchFamily="34" charset="-122"/>
                <a:cs typeface="Verdana" pitchFamily="34" charset="-120"/>
              </a:rPr>
              <a:t>The world's first national park — geysers, wildlife, and wilderness across 3,472 square miles of the American Rockies.</a:t>
            </a:r>
            <a:endParaRPr lang="en-US" sz="1200" dirty="0"/>
          </a:p>
        </p:txBody>
      </p:sp>
      <p:sp>
        <p:nvSpPr>
          <p:cNvPr id="7" name="Text 4"/>
          <p:cNvSpPr/>
          <p:nvPr/>
        </p:nvSpPr>
        <p:spPr>
          <a:xfrm>
            <a:off x="548640" y="4434840"/>
            <a:ext cx="4846320" cy="320040"/>
          </a:xfrm>
          <a:prstGeom prst="rect">
            <a:avLst/>
          </a:prstGeom>
          <a:noFill/>
          <a:ln/>
        </p:spPr>
        <p:txBody>
          <a:bodyPr wrap="square" lIns="0" tIns="0" rIns="0" bIns="0" rtlCol="0" anchor="ctr"/>
          <a:lstStyle/>
          <a:p>
            <a:pPr marL="0" indent="0">
              <a:buNone/>
            </a:pPr>
            <a:r>
              <a:rPr lang="en-US" sz="1000" b="1" dirty="0">
                <a:solidFill>
                  <a:srgbClr val="D4A017"/>
                </a:solidFill>
                <a:latin typeface="Verdana" pitchFamily="34" charset="0"/>
                <a:ea typeface="Verdana" pitchFamily="34" charset="-122"/>
                <a:cs typeface="Verdana" pitchFamily="34" charset="-120"/>
              </a:rPr>
              <a:t>Established 1872  ·  Wyoming · Montana · Idaho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8046720" cy="640080"/>
          </a:xfrm>
          <a:prstGeom prst="rect">
            <a:avLst/>
          </a:prstGeom>
          <a:noFill/>
          <a:ln/>
        </p:spPr>
        <p:txBody>
          <a:bodyPr wrap="square" lIns="0" tIns="0" rIns="0" bIns="0" rtlCol="0" anchor="ctr"/>
          <a:lstStyle/>
          <a:p>
            <a:pPr marL="0" indent="0">
              <a:buNone/>
            </a:pPr>
            <a:r>
              <a:rPr lang="en-US" sz="2800" b="1" dirty="0">
                <a:solidFill>
                  <a:srgbClr val="1F4D2E"/>
                </a:solidFill>
                <a:latin typeface="Georgia" pitchFamily="34" charset="0"/>
                <a:ea typeface="Georgia" pitchFamily="34" charset="-122"/>
                <a:cs typeface="Georgia" pitchFamily="34" charset="-120"/>
              </a:rPr>
              <a:t>A Park Like No Other</a:t>
            </a:r>
            <a:endParaRPr lang="en-US" sz="2800" dirty="0"/>
          </a:p>
        </p:txBody>
      </p:sp>
      <p:sp>
        <p:nvSpPr>
          <p:cNvPr id="3" name="Text 1"/>
          <p:cNvSpPr/>
          <p:nvPr/>
        </p:nvSpPr>
        <p:spPr>
          <a:xfrm>
            <a:off x="548640" y="1188720"/>
            <a:ext cx="4114800" cy="1554480"/>
          </a:xfrm>
          <a:prstGeom prst="rect">
            <a:avLst/>
          </a:prstGeom>
          <a:noFill/>
          <a:ln/>
        </p:spPr>
        <p:txBody>
          <a:bodyPr wrap="square" lIns="0" tIns="0" rIns="0" bIns="0" rtlCol="0" anchor="ctr"/>
          <a:lstStyle/>
          <a:p>
            <a:pPr marL="0" indent="0">
              <a:lnSpc>
                <a:spcPts val="1900"/>
              </a:lnSpc>
              <a:buNone/>
            </a:pPr>
            <a:r>
              <a:rPr lang="en-US" sz="1150" dirty="0">
                <a:solidFill>
                  <a:srgbClr val="23282B"/>
                </a:solidFill>
                <a:latin typeface="Verdana" pitchFamily="34" charset="0"/>
                <a:ea typeface="Verdana" pitchFamily="34" charset="-122"/>
                <a:cs typeface="Verdana" pitchFamily="34" charset="-120"/>
              </a:rPr>
              <a:t>Yellowstone sits on top of one of the largest active volcanic systems on Earth. That restless heat below ground is what gives the park its geysers, hot springs, and steaming terraces — and the surrounding wilderness shelters one of the last intact temperate ecosystems in the northern hemisphere.</a:t>
            </a:r>
            <a:endParaRPr lang="en-US" sz="1150" dirty="0"/>
          </a:p>
        </p:txBody>
      </p:sp>
      <p:sp>
        <p:nvSpPr>
          <p:cNvPr id="4" name="Text 2"/>
          <p:cNvSpPr/>
          <p:nvPr/>
        </p:nvSpPr>
        <p:spPr>
          <a:xfrm>
            <a:off x="548640" y="2971800"/>
            <a:ext cx="1325880" cy="457200"/>
          </a:xfrm>
          <a:prstGeom prst="rect">
            <a:avLst/>
          </a:prstGeom>
          <a:noFill/>
          <a:ln/>
        </p:spPr>
        <p:txBody>
          <a:bodyPr wrap="square" lIns="0" tIns="0" rIns="0" bIns="0" rtlCol="0" anchor="ctr"/>
          <a:lstStyle/>
          <a:p>
            <a:pPr marL="0" indent="0">
              <a:buNone/>
            </a:pPr>
            <a:r>
              <a:rPr lang="en-US" sz="2400" b="1" dirty="0">
                <a:solidFill>
                  <a:srgbClr val="D4A017"/>
                </a:solidFill>
                <a:latin typeface="Georgia" pitchFamily="34" charset="0"/>
                <a:ea typeface="Georgia" pitchFamily="34" charset="-122"/>
                <a:cs typeface="Georgia" pitchFamily="34" charset="-120"/>
              </a:rPr>
              <a:t>1872</a:t>
            </a:r>
            <a:endParaRPr lang="en-US" sz="2400" dirty="0"/>
          </a:p>
        </p:txBody>
      </p:sp>
      <p:sp>
        <p:nvSpPr>
          <p:cNvPr id="5" name="Stat rule">
            <a:extLst>
              <a:ext uri="{C183D7F6-B498-43B3-948B-1728B52AA6E4}">
                <adec:decorative xmlns:adec="http://schemas.microsoft.com/office/drawing/2017/decorative" val="1"/>
              </a:ext>
            </a:extLst>
          </p:cNvPr>
          <p:cNvSpPr/>
          <p:nvPr/>
        </p:nvSpPr>
        <p:spPr>
          <a:xfrm>
            <a:off x="548640" y="3456432"/>
            <a:ext cx="457200" cy="41148"/>
          </a:xfrm>
          <a:prstGeom prst="rect">
            <a:avLst/>
          </a:prstGeom>
          <a:solidFill>
            <a:srgbClr val="1F4D2E"/>
          </a:solidFill>
          <a:ln/>
        </p:spPr>
        <p:txBody>
          <a:bodyPr/>
          <a:lstStyle/>
          <a:p>
            <a:endParaRPr lang="cs-CZ"/>
          </a:p>
        </p:txBody>
      </p:sp>
      <p:sp>
        <p:nvSpPr>
          <p:cNvPr id="6" name="Text 4"/>
          <p:cNvSpPr/>
          <p:nvPr/>
        </p:nvSpPr>
        <p:spPr>
          <a:xfrm>
            <a:off x="548640" y="3566160"/>
            <a:ext cx="1325880" cy="685800"/>
          </a:xfrm>
          <a:prstGeom prst="rect">
            <a:avLst/>
          </a:prstGeom>
          <a:noFill/>
          <a:ln/>
        </p:spPr>
        <p:txBody>
          <a:bodyPr wrap="square" lIns="0" tIns="0" rIns="0" bIns="0" rtlCol="0" anchor="ctr"/>
          <a:lstStyle/>
          <a:p>
            <a:pPr marL="0" indent="0">
              <a:lnSpc>
                <a:spcPts val="1300"/>
              </a:lnSpc>
              <a:buNone/>
            </a:pPr>
            <a:r>
              <a:rPr lang="en-US" sz="900" dirty="0">
                <a:solidFill>
                  <a:srgbClr val="6B7472"/>
                </a:solidFill>
                <a:latin typeface="Verdana" pitchFamily="34" charset="0"/>
                <a:ea typeface="Verdana" pitchFamily="34" charset="-122"/>
                <a:cs typeface="Verdana" pitchFamily="34" charset="-120"/>
              </a:rPr>
              <a:t>Year founded — the</a:t>
            </a:r>
            <a:endParaRPr lang="en-US" sz="900" dirty="0"/>
          </a:p>
          <a:p>
            <a:pPr marL="0" indent="0">
              <a:lnSpc>
                <a:spcPts val="1300"/>
              </a:lnSpc>
              <a:buNone/>
            </a:pPr>
            <a:r>
              <a:rPr lang="en-US" sz="900" dirty="0">
                <a:solidFill>
                  <a:srgbClr val="6B7472"/>
                </a:solidFill>
                <a:latin typeface="Verdana" pitchFamily="34" charset="0"/>
                <a:ea typeface="Verdana" pitchFamily="34" charset="-122"/>
                <a:cs typeface="Verdana" pitchFamily="34" charset="-120"/>
              </a:rPr>
              <a:t>first national park</a:t>
            </a:r>
            <a:endParaRPr lang="en-US" sz="900" dirty="0"/>
          </a:p>
        </p:txBody>
      </p:sp>
      <p:sp>
        <p:nvSpPr>
          <p:cNvPr id="7" name="Text 5"/>
          <p:cNvSpPr/>
          <p:nvPr/>
        </p:nvSpPr>
        <p:spPr>
          <a:xfrm>
            <a:off x="1965960" y="2971800"/>
            <a:ext cx="1325880" cy="457200"/>
          </a:xfrm>
          <a:prstGeom prst="rect">
            <a:avLst/>
          </a:prstGeom>
          <a:noFill/>
          <a:ln/>
        </p:spPr>
        <p:txBody>
          <a:bodyPr wrap="square" lIns="0" tIns="0" rIns="0" bIns="0" rtlCol="0" anchor="ctr"/>
          <a:lstStyle/>
          <a:p>
            <a:pPr marL="0" indent="0">
              <a:buNone/>
            </a:pPr>
            <a:r>
              <a:rPr lang="en-US" sz="2400" b="1" dirty="0">
                <a:solidFill>
                  <a:srgbClr val="D4A017"/>
                </a:solidFill>
                <a:latin typeface="Georgia" pitchFamily="34" charset="0"/>
                <a:ea typeface="Georgia" pitchFamily="34" charset="-122"/>
                <a:cs typeface="Georgia" pitchFamily="34" charset="-120"/>
              </a:rPr>
              <a:t>8,991</a:t>
            </a:r>
            <a:endParaRPr lang="en-US" sz="2400" dirty="0"/>
          </a:p>
        </p:txBody>
      </p:sp>
      <p:sp>
        <p:nvSpPr>
          <p:cNvPr id="8" name="Stat rule">
            <a:extLst>
              <a:ext uri="{C183D7F6-B498-43B3-948B-1728B52AA6E4}">
                <adec:decorative xmlns:adec="http://schemas.microsoft.com/office/drawing/2017/decorative" val="1"/>
              </a:ext>
            </a:extLst>
          </p:cNvPr>
          <p:cNvSpPr/>
          <p:nvPr/>
        </p:nvSpPr>
        <p:spPr>
          <a:xfrm>
            <a:off x="1965960" y="3456432"/>
            <a:ext cx="457200" cy="41148"/>
          </a:xfrm>
          <a:prstGeom prst="rect">
            <a:avLst/>
          </a:prstGeom>
          <a:solidFill>
            <a:srgbClr val="1F4D2E"/>
          </a:solidFill>
          <a:ln/>
        </p:spPr>
        <p:txBody>
          <a:bodyPr/>
          <a:lstStyle/>
          <a:p>
            <a:endParaRPr lang="cs-CZ"/>
          </a:p>
        </p:txBody>
      </p:sp>
      <p:sp>
        <p:nvSpPr>
          <p:cNvPr id="9" name="Text 7"/>
          <p:cNvSpPr/>
          <p:nvPr/>
        </p:nvSpPr>
        <p:spPr>
          <a:xfrm>
            <a:off x="1965960" y="3566160"/>
            <a:ext cx="1325880" cy="685800"/>
          </a:xfrm>
          <a:prstGeom prst="rect">
            <a:avLst/>
          </a:prstGeom>
          <a:noFill/>
          <a:ln/>
        </p:spPr>
        <p:txBody>
          <a:bodyPr wrap="square" lIns="0" tIns="0" rIns="0" bIns="0" rtlCol="0" anchor="ctr"/>
          <a:lstStyle/>
          <a:p>
            <a:pPr marL="0" indent="0">
              <a:lnSpc>
                <a:spcPts val="1300"/>
              </a:lnSpc>
              <a:buNone/>
            </a:pPr>
            <a:r>
              <a:rPr lang="en-US" sz="900" dirty="0">
                <a:solidFill>
                  <a:srgbClr val="6B7472"/>
                </a:solidFill>
                <a:latin typeface="Verdana" pitchFamily="34" charset="0"/>
                <a:ea typeface="Verdana" pitchFamily="34" charset="-122"/>
                <a:cs typeface="Verdana" pitchFamily="34" charset="-120"/>
              </a:rPr>
              <a:t>Square kilometres</a:t>
            </a:r>
            <a:endParaRPr lang="en-US" sz="900" dirty="0"/>
          </a:p>
          <a:p>
            <a:pPr marL="0" indent="0">
              <a:lnSpc>
                <a:spcPts val="1300"/>
              </a:lnSpc>
              <a:buNone/>
            </a:pPr>
            <a:r>
              <a:rPr lang="en-US" sz="900" dirty="0">
                <a:solidFill>
                  <a:srgbClr val="6B7472"/>
                </a:solidFill>
                <a:latin typeface="Verdana" pitchFamily="34" charset="0"/>
                <a:ea typeface="Verdana" pitchFamily="34" charset="-122"/>
                <a:cs typeface="Verdana" pitchFamily="34" charset="-120"/>
              </a:rPr>
              <a:t>of protected land</a:t>
            </a:r>
            <a:endParaRPr lang="en-US" sz="900" dirty="0"/>
          </a:p>
        </p:txBody>
      </p:sp>
      <p:sp>
        <p:nvSpPr>
          <p:cNvPr id="10" name="Text 8"/>
          <p:cNvSpPr/>
          <p:nvPr/>
        </p:nvSpPr>
        <p:spPr>
          <a:xfrm>
            <a:off x="3383280" y="2971800"/>
            <a:ext cx="1325880" cy="457200"/>
          </a:xfrm>
          <a:prstGeom prst="rect">
            <a:avLst/>
          </a:prstGeom>
          <a:noFill/>
          <a:ln/>
        </p:spPr>
        <p:txBody>
          <a:bodyPr wrap="square" lIns="0" tIns="0" rIns="0" bIns="0" rtlCol="0" anchor="ctr"/>
          <a:lstStyle/>
          <a:p>
            <a:pPr marL="0" indent="0">
              <a:buNone/>
            </a:pPr>
            <a:r>
              <a:rPr lang="en-US" sz="2400" b="1" dirty="0">
                <a:solidFill>
                  <a:srgbClr val="D4A017"/>
                </a:solidFill>
                <a:latin typeface="Georgia" pitchFamily="34" charset="0"/>
                <a:ea typeface="Georgia" pitchFamily="34" charset="-122"/>
                <a:cs typeface="Georgia" pitchFamily="34" charset="-120"/>
              </a:rPr>
              <a:t>~10,000</a:t>
            </a:r>
            <a:endParaRPr lang="en-US" sz="2400" dirty="0"/>
          </a:p>
        </p:txBody>
      </p:sp>
      <p:sp>
        <p:nvSpPr>
          <p:cNvPr id="11" name="Stat rule">
            <a:extLst>
              <a:ext uri="{C183D7F6-B498-43B3-948B-1728B52AA6E4}">
                <adec:decorative xmlns:adec="http://schemas.microsoft.com/office/drawing/2017/decorative" val="1"/>
              </a:ext>
            </a:extLst>
          </p:cNvPr>
          <p:cNvSpPr/>
          <p:nvPr/>
        </p:nvSpPr>
        <p:spPr>
          <a:xfrm>
            <a:off x="3383280" y="3456432"/>
            <a:ext cx="457200" cy="41148"/>
          </a:xfrm>
          <a:prstGeom prst="rect">
            <a:avLst/>
          </a:prstGeom>
          <a:solidFill>
            <a:srgbClr val="1F4D2E"/>
          </a:solidFill>
          <a:ln/>
        </p:spPr>
        <p:txBody>
          <a:bodyPr/>
          <a:lstStyle/>
          <a:p>
            <a:endParaRPr lang="cs-CZ"/>
          </a:p>
        </p:txBody>
      </p:sp>
      <p:sp>
        <p:nvSpPr>
          <p:cNvPr id="12" name="Text 10"/>
          <p:cNvSpPr/>
          <p:nvPr/>
        </p:nvSpPr>
        <p:spPr>
          <a:xfrm>
            <a:off x="3383280" y="3566160"/>
            <a:ext cx="1325880" cy="685800"/>
          </a:xfrm>
          <a:prstGeom prst="rect">
            <a:avLst/>
          </a:prstGeom>
          <a:noFill/>
          <a:ln/>
        </p:spPr>
        <p:txBody>
          <a:bodyPr wrap="square" lIns="0" tIns="0" rIns="0" bIns="0" rtlCol="0" anchor="ctr"/>
          <a:lstStyle/>
          <a:p>
            <a:pPr marL="0" indent="0">
              <a:lnSpc>
                <a:spcPts val="1300"/>
              </a:lnSpc>
              <a:buNone/>
            </a:pPr>
            <a:r>
              <a:rPr lang="en-US" sz="900" dirty="0">
                <a:solidFill>
                  <a:srgbClr val="6B7472"/>
                </a:solidFill>
                <a:latin typeface="Verdana" pitchFamily="34" charset="0"/>
                <a:ea typeface="Verdana" pitchFamily="34" charset="-122"/>
                <a:cs typeface="Verdana" pitchFamily="34" charset="-120"/>
              </a:rPr>
              <a:t>Thermal features,</a:t>
            </a:r>
            <a:endParaRPr lang="en-US" sz="900" dirty="0"/>
          </a:p>
          <a:p>
            <a:pPr marL="0" indent="0">
              <a:lnSpc>
                <a:spcPts val="1300"/>
              </a:lnSpc>
              <a:buNone/>
            </a:pPr>
            <a:r>
              <a:rPr lang="en-US" sz="900" dirty="0">
                <a:solidFill>
                  <a:srgbClr val="6B7472"/>
                </a:solidFill>
                <a:latin typeface="Verdana" pitchFamily="34" charset="0"/>
                <a:ea typeface="Verdana" pitchFamily="34" charset="-122"/>
                <a:cs typeface="Verdana" pitchFamily="34" charset="-120"/>
              </a:rPr>
              <a:t>half the world's total</a:t>
            </a:r>
            <a:endParaRPr lang="en-US" sz="900" dirty="0"/>
          </a:p>
        </p:txBody>
      </p:sp>
      <p:pic>
        <p:nvPicPr>
          <p:cNvPr id="13" name="Image 0" descr="Yellowstone Lake at sunrise with calm water and distant mountains"/>
          <p:cNvPicPr>
            <a:picLocks noChangeAspect="1"/>
          </p:cNvPicPr>
          <p:nvPr/>
        </p:nvPicPr>
        <p:blipFill>
          <a:blip r:embed="rId3"/>
          <a:srcRect l="12255" r="12255"/>
          <a:stretch/>
        </p:blipFill>
        <p:spPr>
          <a:xfrm>
            <a:off x="5074920" y="1188720"/>
            <a:ext cx="3520440" cy="31089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8046720" cy="640080"/>
          </a:xfrm>
          <a:prstGeom prst="rect">
            <a:avLst/>
          </a:prstGeom>
          <a:noFill/>
          <a:ln/>
        </p:spPr>
        <p:txBody>
          <a:bodyPr wrap="square" lIns="0" tIns="0" rIns="0" bIns="0" rtlCol="0" anchor="ctr"/>
          <a:lstStyle/>
          <a:p>
            <a:pPr marL="0" indent="0">
              <a:buNone/>
            </a:pPr>
            <a:r>
              <a:rPr lang="en-US" sz="2800" b="1" dirty="0">
                <a:solidFill>
                  <a:srgbClr val="1F4D2E"/>
                </a:solidFill>
                <a:latin typeface="Georgia" pitchFamily="34" charset="0"/>
                <a:ea typeface="Georgia" pitchFamily="34" charset="-122"/>
                <a:cs typeface="Georgia" pitchFamily="34" charset="-120"/>
              </a:rPr>
              <a:t>Geysers &amp; Hot Springs</a:t>
            </a:r>
            <a:endParaRPr lang="en-US" sz="2800" dirty="0"/>
          </a:p>
        </p:txBody>
      </p:sp>
      <p:pic>
        <p:nvPicPr>
          <p:cNvPr id="3" name="Image 0" descr="Old Faithful geyser erupting a tall column of steam against a blue sky"/>
          <p:cNvPicPr>
            <a:picLocks noChangeAspect="1"/>
          </p:cNvPicPr>
          <p:nvPr/>
        </p:nvPicPr>
        <p:blipFill>
          <a:blip r:embed="rId3"/>
          <a:srcRect l="7843" r="7843"/>
          <a:stretch/>
        </p:blipFill>
        <p:spPr>
          <a:xfrm>
            <a:off x="548640" y="1188720"/>
            <a:ext cx="3931920" cy="3108960"/>
          </a:xfrm>
          <a:prstGeom prst="rect">
            <a:avLst/>
          </a:prstGeom>
        </p:spPr>
      </p:pic>
      <p:sp>
        <p:nvSpPr>
          <p:cNvPr id="4" name="Text 1"/>
          <p:cNvSpPr/>
          <p:nvPr/>
        </p:nvSpPr>
        <p:spPr>
          <a:xfrm>
            <a:off x="4800600" y="1234440"/>
            <a:ext cx="3794760" cy="365760"/>
          </a:xfrm>
          <a:prstGeom prst="rect">
            <a:avLst/>
          </a:prstGeom>
          <a:noFill/>
          <a:ln/>
        </p:spPr>
        <p:txBody>
          <a:bodyPr wrap="square" lIns="0" tIns="0" rIns="0" bIns="0" rtlCol="0" anchor="ctr"/>
          <a:lstStyle/>
          <a:p>
            <a:pPr marL="0" indent="0">
              <a:buNone/>
            </a:pPr>
            <a:r>
              <a:rPr lang="en-US" sz="2000" b="1" dirty="0">
                <a:solidFill>
                  <a:srgbClr val="1F4D2E"/>
                </a:solidFill>
                <a:latin typeface="Georgia" pitchFamily="34" charset="0"/>
                <a:ea typeface="Georgia" pitchFamily="34" charset="-122"/>
                <a:cs typeface="Georgia" pitchFamily="34" charset="-120"/>
              </a:rPr>
              <a:t>Old Faithful</a:t>
            </a:r>
            <a:endParaRPr lang="en-US" sz="2000" dirty="0"/>
          </a:p>
        </p:txBody>
      </p:sp>
      <p:sp>
        <p:nvSpPr>
          <p:cNvPr id="5" name="Text 2"/>
          <p:cNvSpPr/>
          <p:nvPr/>
        </p:nvSpPr>
        <p:spPr>
          <a:xfrm>
            <a:off x="4800600" y="1783080"/>
            <a:ext cx="3794760" cy="2194560"/>
          </a:xfrm>
          <a:prstGeom prst="rect">
            <a:avLst/>
          </a:prstGeom>
          <a:noFill/>
          <a:ln/>
        </p:spPr>
        <p:txBody>
          <a:bodyPr wrap="square" lIns="0" tIns="0" rIns="0" bIns="0" rtlCol="0" anchor="ctr"/>
          <a:lstStyle/>
          <a:p>
            <a:pPr marL="342900" indent="-342900">
              <a:spcAft>
                <a:spcPts val="1000"/>
              </a:spcAft>
              <a:buSzPct val="100000"/>
              <a:buChar char="•"/>
            </a:pPr>
            <a:r>
              <a:rPr lang="en-US" sz="1100" dirty="0">
                <a:solidFill>
                  <a:srgbClr val="23282B"/>
                </a:solidFill>
                <a:latin typeface="Verdana" pitchFamily="34" charset="0"/>
                <a:ea typeface="Verdana" pitchFamily="34" charset="-122"/>
                <a:cs typeface="Verdana" pitchFamily="34" charset="-120"/>
              </a:rPr>
              <a:t>Erupts roughly every 90 minutes, sending water 30–55 metres into the air.</a:t>
            </a:r>
            <a:endParaRPr lang="en-US" sz="1100" dirty="0"/>
          </a:p>
          <a:p>
            <a:pPr marL="342900" indent="-342900">
              <a:spcAft>
                <a:spcPts val="1000"/>
              </a:spcAft>
              <a:buSzPct val="100000"/>
              <a:buChar char="•"/>
            </a:pPr>
            <a:r>
              <a:rPr lang="en-US" sz="1100" dirty="0">
                <a:solidFill>
                  <a:srgbClr val="23282B"/>
                </a:solidFill>
                <a:latin typeface="Verdana" pitchFamily="34" charset="0"/>
                <a:ea typeface="Verdana" pitchFamily="34" charset="-122"/>
                <a:cs typeface="Verdana" pitchFamily="34" charset="-120"/>
              </a:rPr>
              <a:t>The park protects about half of all active geysers on the planet.</a:t>
            </a:r>
            <a:endParaRPr lang="en-US" sz="1100" dirty="0"/>
          </a:p>
          <a:p>
            <a:pPr marL="342900" indent="-342900">
              <a:spcAft>
                <a:spcPts val="1000"/>
              </a:spcAft>
              <a:buSzPct val="100000"/>
              <a:buChar char="•"/>
            </a:pPr>
            <a:r>
              <a:rPr lang="en-US" sz="1100" dirty="0">
                <a:solidFill>
                  <a:srgbClr val="23282B"/>
                </a:solidFill>
                <a:latin typeface="Verdana" pitchFamily="34" charset="0"/>
                <a:ea typeface="Verdana" pitchFamily="34" charset="-122"/>
                <a:cs typeface="Verdana" pitchFamily="34" charset="-120"/>
              </a:rPr>
              <a:t>Grand Prismatic Spring's rainbow rings come from heat-loving bacteria.</a:t>
            </a:r>
            <a:endParaRPr lang="en-US" sz="1100" dirty="0"/>
          </a:p>
          <a:p>
            <a:pPr marL="342900" indent="-342900">
              <a:spcAft>
                <a:spcPts val="1000"/>
              </a:spcAft>
              <a:buSzPct val="100000"/>
              <a:buChar char="•"/>
            </a:pPr>
            <a:r>
              <a:rPr lang="en-US" sz="1100" dirty="0">
                <a:solidFill>
                  <a:srgbClr val="23282B"/>
                </a:solidFill>
                <a:latin typeface="Verdana" pitchFamily="34" charset="0"/>
                <a:ea typeface="Verdana" pitchFamily="34" charset="-122"/>
                <a:cs typeface="Verdana" pitchFamily="34" charset="-120"/>
              </a:rPr>
              <a:t>Boardwalks keep visitors safe — the ground crust is thin and water can exceed 90 °C.</a:t>
            </a:r>
            <a:endParaRPr lang="en-US" sz="1100" dirty="0"/>
          </a:p>
        </p:txBody>
      </p:sp>
      <p:sp>
        <p:nvSpPr>
          <p:cNvPr id="6" name="Note panel">
            <a:extLst>
              <a:ext uri="{C183D7F6-B498-43B3-948B-1728B52AA6E4}">
                <adec:decorative xmlns:adec="http://schemas.microsoft.com/office/drawing/2017/decorative" val="1"/>
              </a:ext>
            </a:extLst>
          </p:cNvPr>
          <p:cNvSpPr/>
          <p:nvPr/>
        </p:nvSpPr>
        <p:spPr>
          <a:xfrm>
            <a:off x="4800600" y="4114800"/>
            <a:ext cx="3794760" cy="566928"/>
          </a:xfrm>
          <a:prstGeom prst="rect">
            <a:avLst/>
          </a:prstGeom>
          <a:solidFill>
            <a:srgbClr val="F4F1EA"/>
          </a:solidFill>
          <a:ln/>
        </p:spPr>
        <p:txBody>
          <a:bodyPr/>
          <a:lstStyle/>
          <a:p>
            <a:endParaRPr lang="cs-CZ"/>
          </a:p>
        </p:txBody>
      </p:sp>
      <p:sp>
        <p:nvSpPr>
          <p:cNvPr id="7" name="Text 4"/>
          <p:cNvSpPr/>
          <p:nvPr/>
        </p:nvSpPr>
        <p:spPr>
          <a:xfrm>
            <a:off x="4983480" y="4114800"/>
            <a:ext cx="3474720" cy="566928"/>
          </a:xfrm>
          <a:prstGeom prst="rect">
            <a:avLst/>
          </a:prstGeom>
          <a:noFill/>
          <a:ln/>
        </p:spPr>
        <p:txBody>
          <a:bodyPr wrap="square" lIns="0" tIns="0" rIns="0" bIns="0" rtlCol="0" anchor="ctr"/>
          <a:lstStyle/>
          <a:p>
            <a:pPr marL="0" indent="0">
              <a:buNone/>
            </a:pPr>
            <a:r>
              <a:rPr lang="en-US" sz="1000" i="1" dirty="0">
                <a:solidFill>
                  <a:srgbClr val="3C7A52"/>
                </a:solidFill>
                <a:latin typeface="Verdana" pitchFamily="34" charset="0"/>
                <a:ea typeface="Verdana" pitchFamily="34" charset="-122"/>
                <a:cs typeface="Verdana" pitchFamily="34" charset="-120"/>
              </a:rPr>
              <a:t>Predictable, but never identical — no two eruptions look the same.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8046720" cy="640080"/>
          </a:xfrm>
          <a:prstGeom prst="rect">
            <a:avLst/>
          </a:prstGeom>
          <a:noFill/>
          <a:ln/>
        </p:spPr>
        <p:txBody>
          <a:bodyPr wrap="square" lIns="0" tIns="0" rIns="0" bIns="0" rtlCol="0" anchor="ctr"/>
          <a:lstStyle/>
          <a:p>
            <a:pPr marL="0" indent="0">
              <a:buNone/>
            </a:pPr>
            <a:r>
              <a:rPr lang="en-US" sz="2800" b="1" dirty="0">
                <a:solidFill>
                  <a:srgbClr val="1F4D2E"/>
                </a:solidFill>
                <a:latin typeface="Georgia" pitchFamily="34" charset="0"/>
                <a:ea typeface="Georgia" pitchFamily="34" charset="-122"/>
                <a:cs typeface="Georgia" pitchFamily="34" charset="-120"/>
              </a:rPr>
              <a:t>Colours of the Earth</a:t>
            </a:r>
            <a:endParaRPr lang="en-US" sz="2800" dirty="0"/>
          </a:p>
        </p:txBody>
      </p:sp>
      <p:pic>
        <p:nvPicPr>
          <p:cNvPr id="3" name="Image 0" descr="Travertine terraces at Mammoth Hot Springs with white and orange mineral steps"/>
          <p:cNvPicPr>
            <a:picLocks noChangeAspect="1"/>
          </p:cNvPicPr>
          <p:nvPr/>
        </p:nvPicPr>
        <p:blipFill>
          <a:blip r:embed="rId3"/>
          <a:srcRect t="28267" b="28267"/>
          <a:stretch/>
        </p:blipFill>
        <p:spPr>
          <a:xfrm>
            <a:off x="548640" y="1188720"/>
            <a:ext cx="8046720" cy="2331720"/>
          </a:xfrm>
          <a:prstGeom prst="rect">
            <a:avLst/>
          </a:prstGeom>
        </p:spPr>
      </p:pic>
      <p:sp>
        <p:nvSpPr>
          <p:cNvPr id="4" name="Text 1"/>
          <p:cNvSpPr/>
          <p:nvPr/>
        </p:nvSpPr>
        <p:spPr>
          <a:xfrm>
            <a:off x="548640" y="3657600"/>
            <a:ext cx="2514600" cy="274320"/>
          </a:xfrm>
          <a:prstGeom prst="rect">
            <a:avLst/>
          </a:prstGeom>
          <a:noFill/>
          <a:ln/>
        </p:spPr>
        <p:txBody>
          <a:bodyPr wrap="square" lIns="0" tIns="0" rIns="0" bIns="0" rtlCol="0" anchor="ctr"/>
          <a:lstStyle/>
          <a:p>
            <a:pPr marL="0" indent="0">
              <a:buNone/>
            </a:pPr>
            <a:r>
              <a:rPr lang="en-US" sz="1100" b="1" dirty="0">
                <a:solidFill>
                  <a:srgbClr val="1F4D2E"/>
                </a:solidFill>
                <a:latin typeface="Verdana" pitchFamily="34" charset="0"/>
                <a:ea typeface="Verdana" pitchFamily="34" charset="-122"/>
                <a:cs typeface="Verdana" pitchFamily="34" charset="-120"/>
              </a:rPr>
              <a:t>Mammoth Hot Springs</a:t>
            </a:r>
            <a:endParaRPr lang="en-US" sz="1100" dirty="0"/>
          </a:p>
        </p:txBody>
      </p:sp>
      <p:sp>
        <p:nvSpPr>
          <p:cNvPr id="5" name="Text 2"/>
          <p:cNvSpPr/>
          <p:nvPr/>
        </p:nvSpPr>
        <p:spPr>
          <a:xfrm>
            <a:off x="548640" y="3950208"/>
            <a:ext cx="2514600" cy="868680"/>
          </a:xfrm>
          <a:prstGeom prst="rect">
            <a:avLst/>
          </a:prstGeom>
          <a:noFill/>
          <a:ln/>
        </p:spPr>
        <p:txBody>
          <a:bodyPr wrap="square" lIns="0" tIns="0" rIns="0" bIns="0" rtlCol="0" anchor="ctr"/>
          <a:lstStyle/>
          <a:p>
            <a:pPr marL="0" indent="0">
              <a:lnSpc>
                <a:spcPts val="1400"/>
              </a:lnSpc>
              <a:buNone/>
            </a:pPr>
            <a:r>
              <a:rPr lang="en-US" sz="950" dirty="0">
                <a:solidFill>
                  <a:srgbClr val="6B7472"/>
                </a:solidFill>
                <a:latin typeface="Verdana" pitchFamily="34" charset="0"/>
                <a:ea typeface="Verdana" pitchFamily="34" charset="-122"/>
                <a:cs typeface="Verdana" pitchFamily="34" charset="-120"/>
              </a:rPr>
              <a:t>Hot water carries dissolved limestone to the surface, building terraces that shift shape year after year.</a:t>
            </a:r>
            <a:endParaRPr lang="en-US" sz="950" dirty="0"/>
          </a:p>
        </p:txBody>
      </p:sp>
      <p:sp>
        <p:nvSpPr>
          <p:cNvPr id="6" name="Text 3"/>
          <p:cNvSpPr/>
          <p:nvPr/>
        </p:nvSpPr>
        <p:spPr>
          <a:xfrm>
            <a:off x="3291840" y="3657600"/>
            <a:ext cx="2514600" cy="274320"/>
          </a:xfrm>
          <a:prstGeom prst="rect">
            <a:avLst/>
          </a:prstGeom>
          <a:noFill/>
          <a:ln/>
        </p:spPr>
        <p:txBody>
          <a:bodyPr wrap="square" lIns="0" tIns="0" rIns="0" bIns="0" rtlCol="0" anchor="ctr"/>
          <a:lstStyle/>
          <a:p>
            <a:pPr marL="0" indent="0">
              <a:buNone/>
            </a:pPr>
            <a:r>
              <a:rPr lang="en-US" sz="1100" b="1" dirty="0">
                <a:solidFill>
                  <a:srgbClr val="1F4D2E"/>
                </a:solidFill>
                <a:latin typeface="Verdana" pitchFamily="34" charset="0"/>
                <a:ea typeface="Verdana" pitchFamily="34" charset="-122"/>
                <a:cs typeface="Verdana" pitchFamily="34" charset="-120"/>
              </a:rPr>
              <a:t>Grand Prismatic</a:t>
            </a:r>
            <a:endParaRPr lang="en-US" sz="1100" dirty="0"/>
          </a:p>
        </p:txBody>
      </p:sp>
      <p:sp>
        <p:nvSpPr>
          <p:cNvPr id="7" name="Text 4"/>
          <p:cNvSpPr/>
          <p:nvPr/>
        </p:nvSpPr>
        <p:spPr>
          <a:xfrm>
            <a:off x="3291840" y="3950208"/>
            <a:ext cx="2514600" cy="868680"/>
          </a:xfrm>
          <a:prstGeom prst="rect">
            <a:avLst/>
          </a:prstGeom>
          <a:noFill/>
          <a:ln/>
        </p:spPr>
        <p:txBody>
          <a:bodyPr wrap="square" lIns="0" tIns="0" rIns="0" bIns="0" rtlCol="0" anchor="ctr"/>
          <a:lstStyle/>
          <a:p>
            <a:pPr marL="0" indent="0">
              <a:lnSpc>
                <a:spcPts val="1400"/>
              </a:lnSpc>
              <a:buNone/>
            </a:pPr>
            <a:r>
              <a:rPr lang="en-US" sz="950" dirty="0">
                <a:solidFill>
                  <a:srgbClr val="6B7472"/>
                </a:solidFill>
                <a:latin typeface="Verdana" pitchFamily="34" charset="0"/>
                <a:ea typeface="Verdana" pitchFamily="34" charset="-122"/>
                <a:cs typeface="Verdana" pitchFamily="34" charset="-120"/>
              </a:rPr>
              <a:t>The largest hot spring in the United States, ringed in orange, gold, and deep blue by microbial mats.</a:t>
            </a:r>
            <a:endParaRPr lang="en-US" sz="950" dirty="0"/>
          </a:p>
        </p:txBody>
      </p:sp>
      <p:sp>
        <p:nvSpPr>
          <p:cNvPr id="8" name="Text 5"/>
          <p:cNvSpPr/>
          <p:nvPr/>
        </p:nvSpPr>
        <p:spPr>
          <a:xfrm>
            <a:off x="6035040" y="3657600"/>
            <a:ext cx="2514600" cy="274320"/>
          </a:xfrm>
          <a:prstGeom prst="rect">
            <a:avLst/>
          </a:prstGeom>
          <a:noFill/>
          <a:ln/>
        </p:spPr>
        <p:txBody>
          <a:bodyPr wrap="square" lIns="0" tIns="0" rIns="0" bIns="0" rtlCol="0" anchor="ctr"/>
          <a:lstStyle/>
          <a:p>
            <a:pPr marL="0" indent="0">
              <a:buNone/>
            </a:pPr>
            <a:r>
              <a:rPr lang="en-US" sz="1100" b="1" dirty="0">
                <a:solidFill>
                  <a:srgbClr val="1F4D2E"/>
                </a:solidFill>
                <a:latin typeface="Verdana" pitchFamily="34" charset="0"/>
                <a:ea typeface="Verdana" pitchFamily="34" charset="-122"/>
                <a:cs typeface="Verdana" pitchFamily="34" charset="-120"/>
              </a:rPr>
              <a:t>Norris Basin</a:t>
            </a:r>
            <a:endParaRPr lang="en-US" sz="1100" dirty="0"/>
          </a:p>
        </p:txBody>
      </p:sp>
      <p:sp>
        <p:nvSpPr>
          <p:cNvPr id="9" name="Text 6"/>
          <p:cNvSpPr/>
          <p:nvPr/>
        </p:nvSpPr>
        <p:spPr>
          <a:xfrm>
            <a:off x="6035040" y="3950208"/>
            <a:ext cx="2514600" cy="868680"/>
          </a:xfrm>
          <a:prstGeom prst="rect">
            <a:avLst/>
          </a:prstGeom>
          <a:noFill/>
          <a:ln/>
        </p:spPr>
        <p:txBody>
          <a:bodyPr wrap="square" lIns="0" tIns="0" rIns="0" bIns="0" rtlCol="0" anchor="ctr"/>
          <a:lstStyle/>
          <a:p>
            <a:pPr marL="0" indent="0">
              <a:lnSpc>
                <a:spcPts val="1400"/>
              </a:lnSpc>
              <a:buNone/>
            </a:pPr>
            <a:r>
              <a:rPr lang="en-US" sz="950" dirty="0">
                <a:solidFill>
                  <a:srgbClr val="6B7472"/>
                </a:solidFill>
                <a:latin typeface="Verdana" pitchFamily="34" charset="0"/>
                <a:ea typeface="Verdana" pitchFamily="34" charset="-122"/>
                <a:cs typeface="Verdana" pitchFamily="34" charset="-120"/>
              </a:rPr>
              <a:t>The hottest and most changeable thermal area in the park, with acidic springs and roaring steam vents.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8046720" cy="640080"/>
          </a:xfrm>
          <a:prstGeom prst="rect">
            <a:avLst/>
          </a:prstGeom>
          <a:noFill/>
          <a:ln/>
        </p:spPr>
        <p:txBody>
          <a:bodyPr wrap="square" lIns="0" tIns="0" rIns="0" bIns="0" rtlCol="0" anchor="ctr"/>
          <a:lstStyle/>
          <a:p>
            <a:pPr marL="0" indent="0">
              <a:buNone/>
            </a:pPr>
            <a:r>
              <a:rPr lang="en-US" sz="2800" b="1" dirty="0">
                <a:solidFill>
                  <a:srgbClr val="1F4D2E"/>
                </a:solidFill>
                <a:latin typeface="Georgia" pitchFamily="34" charset="0"/>
                <a:ea typeface="Georgia" pitchFamily="34" charset="-122"/>
                <a:cs typeface="Georgia" pitchFamily="34" charset="-120"/>
              </a:rPr>
              <a:t>Wildlife of the Valleys</a:t>
            </a:r>
            <a:endParaRPr lang="en-US" sz="2800" dirty="0"/>
          </a:p>
        </p:txBody>
      </p:sp>
      <p:pic>
        <p:nvPicPr>
          <p:cNvPr id="3" name="Image 0" descr="Herd of American bison grazing in Lamar Valley at golden hour"/>
          <p:cNvPicPr>
            <a:picLocks noChangeAspect="1"/>
          </p:cNvPicPr>
          <p:nvPr/>
        </p:nvPicPr>
        <p:blipFill>
          <a:blip r:embed="rId3"/>
          <a:srcRect t="22093" b="22093"/>
          <a:stretch/>
        </p:blipFill>
        <p:spPr>
          <a:xfrm>
            <a:off x="4663440" y="1188720"/>
            <a:ext cx="3931920" cy="1463040"/>
          </a:xfrm>
          <a:prstGeom prst="rect">
            <a:avLst/>
          </a:prstGeom>
        </p:spPr>
      </p:pic>
      <p:pic>
        <p:nvPicPr>
          <p:cNvPr id="4" name="Image 1" descr="Gray wolf standing in a snowy Yellowstone meadow at dawn"/>
          <p:cNvPicPr>
            <a:picLocks noChangeAspect="1"/>
          </p:cNvPicPr>
          <p:nvPr/>
        </p:nvPicPr>
        <p:blipFill>
          <a:blip r:embed="rId4"/>
          <a:srcRect t="21221" b="21221"/>
          <a:stretch/>
        </p:blipFill>
        <p:spPr>
          <a:xfrm>
            <a:off x="4663440" y="2788920"/>
            <a:ext cx="3931920" cy="1508760"/>
          </a:xfrm>
          <a:prstGeom prst="rect">
            <a:avLst/>
          </a:prstGeom>
        </p:spPr>
      </p:pic>
      <p:sp>
        <p:nvSpPr>
          <p:cNvPr id="5" name="Text 1"/>
          <p:cNvSpPr/>
          <p:nvPr/>
        </p:nvSpPr>
        <p:spPr>
          <a:xfrm>
            <a:off x="548640" y="1188720"/>
            <a:ext cx="3840480" cy="1097280"/>
          </a:xfrm>
          <a:prstGeom prst="rect">
            <a:avLst/>
          </a:prstGeom>
          <a:noFill/>
          <a:ln/>
        </p:spPr>
        <p:txBody>
          <a:bodyPr wrap="square" lIns="0" tIns="0" rIns="0" bIns="0" rtlCol="0" anchor="ctr"/>
          <a:lstStyle/>
          <a:p>
            <a:pPr marL="0" indent="0">
              <a:lnSpc>
                <a:spcPts val="1900"/>
              </a:lnSpc>
              <a:buNone/>
            </a:pPr>
            <a:r>
              <a:rPr lang="en-US" sz="1150" dirty="0">
                <a:solidFill>
                  <a:srgbClr val="23282B"/>
                </a:solidFill>
                <a:latin typeface="Verdana" pitchFamily="34" charset="0"/>
                <a:ea typeface="Verdana" pitchFamily="34" charset="-122"/>
                <a:cs typeface="Verdana" pitchFamily="34" charset="-120"/>
              </a:rPr>
              <a:t>Yellowstone shelters the largest concentration of mammals in the lower 48 states — bison, elk, grizzly and black bears, wolves, pronghorn, and bighorn sheep.</a:t>
            </a:r>
            <a:endParaRPr lang="en-US" sz="1150" dirty="0"/>
          </a:p>
        </p:txBody>
      </p:sp>
      <p:sp>
        <p:nvSpPr>
          <p:cNvPr id="6" name="Item rule">
            <a:extLst>
              <a:ext uri="{C183D7F6-B498-43B3-948B-1728B52AA6E4}">
                <adec:decorative xmlns:adec="http://schemas.microsoft.com/office/drawing/2017/decorative" val="1"/>
              </a:ext>
            </a:extLst>
          </p:cNvPr>
          <p:cNvSpPr/>
          <p:nvPr/>
        </p:nvSpPr>
        <p:spPr>
          <a:xfrm>
            <a:off x="548640" y="2468880"/>
            <a:ext cx="45720" cy="548640"/>
          </a:xfrm>
          <a:prstGeom prst="rect">
            <a:avLst/>
          </a:prstGeom>
          <a:solidFill>
            <a:srgbClr val="D4A017"/>
          </a:solidFill>
          <a:ln/>
        </p:spPr>
        <p:txBody>
          <a:bodyPr/>
          <a:lstStyle/>
          <a:p>
            <a:endParaRPr lang="cs-CZ"/>
          </a:p>
        </p:txBody>
      </p:sp>
      <p:sp>
        <p:nvSpPr>
          <p:cNvPr id="7" name="Text 3"/>
          <p:cNvSpPr/>
          <p:nvPr/>
        </p:nvSpPr>
        <p:spPr>
          <a:xfrm>
            <a:off x="731520" y="2450592"/>
            <a:ext cx="914400" cy="292608"/>
          </a:xfrm>
          <a:prstGeom prst="rect">
            <a:avLst/>
          </a:prstGeom>
          <a:noFill/>
          <a:ln/>
        </p:spPr>
        <p:txBody>
          <a:bodyPr wrap="square" lIns="0" tIns="0" rIns="0" bIns="0" rtlCol="0" anchor="ctr"/>
          <a:lstStyle/>
          <a:p>
            <a:pPr marL="0" indent="0">
              <a:buNone/>
            </a:pPr>
            <a:r>
              <a:rPr lang="en-US" sz="1500" b="1" dirty="0">
                <a:solidFill>
                  <a:srgbClr val="1F4D2E"/>
                </a:solidFill>
                <a:latin typeface="Georgia" pitchFamily="34" charset="0"/>
                <a:ea typeface="Georgia" pitchFamily="34" charset="-122"/>
                <a:cs typeface="Georgia" pitchFamily="34" charset="-120"/>
              </a:rPr>
              <a:t>~5,000</a:t>
            </a:r>
            <a:endParaRPr lang="en-US" sz="1500" dirty="0"/>
          </a:p>
        </p:txBody>
      </p:sp>
      <p:sp>
        <p:nvSpPr>
          <p:cNvPr id="8" name="Text 4"/>
          <p:cNvSpPr/>
          <p:nvPr/>
        </p:nvSpPr>
        <p:spPr>
          <a:xfrm>
            <a:off x="1691640" y="2450592"/>
            <a:ext cx="2697480" cy="585216"/>
          </a:xfrm>
          <a:prstGeom prst="rect">
            <a:avLst/>
          </a:prstGeom>
          <a:noFill/>
          <a:ln/>
        </p:spPr>
        <p:txBody>
          <a:bodyPr wrap="square" lIns="0" tIns="0" rIns="0" bIns="0" rtlCol="0" anchor="ctr"/>
          <a:lstStyle/>
          <a:p>
            <a:pPr marL="0" indent="0">
              <a:lnSpc>
                <a:spcPts val="1300"/>
              </a:lnSpc>
              <a:buNone/>
            </a:pPr>
            <a:r>
              <a:rPr lang="en-US" sz="900" dirty="0">
                <a:solidFill>
                  <a:srgbClr val="6B7472"/>
                </a:solidFill>
                <a:latin typeface="Verdana" pitchFamily="34" charset="0"/>
                <a:ea typeface="Verdana" pitchFamily="34" charset="-122"/>
                <a:cs typeface="Verdana" pitchFamily="34" charset="-120"/>
              </a:rPr>
              <a:t>Wild bison — the oldest continuously free-ranging herd in the country</a:t>
            </a:r>
            <a:endParaRPr lang="en-US" sz="900" dirty="0"/>
          </a:p>
        </p:txBody>
      </p:sp>
      <p:sp>
        <p:nvSpPr>
          <p:cNvPr id="9" name="Item rule">
            <a:extLst>
              <a:ext uri="{C183D7F6-B498-43B3-948B-1728B52AA6E4}">
                <adec:decorative xmlns:adec="http://schemas.microsoft.com/office/drawing/2017/decorative" val="1"/>
              </a:ext>
            </a:extLst>
          </p:cNvPr>
          <p:cNvSpPr/>
          <p:nvPr/>
        </p:nvSpPr>
        <p:spPr>
          <a:xfrm>
            <a:off x="548640" y="3127248"/>
            <a:ext cx="45720" cy="548640"/>
          </a:xfrm>
          <a:prstGeom prst="rect">
            <a:avLst/>
          </a:prstGeom>
          <a:solidFill>
            <a:srgbClr val="D4A017"/>
          </a:solidFill>
          <a:ln/>
        </p:spPr>
        <p:txBody>
          <a:bodyPr/>
          <a:lstStyle/>
          <a:p>
            <a:endParaRPr lang="cs-CZ"/>
          </a:p>
        </p:txBody>
      </p:sp>
      <p:sp>
        <p:nvSpPr>
          <p:cNvPr id="10" name="Text 6"/>
          <p:cNvSpPr/>
          <p:nvPr/>
        </p:nvSpPr>
        <p:spPr>
          <a:xfrm>
            <a:off x="731520" y="3108960"/>
            <a:ext cx="914400" cy="292608"/>
          </a:xfrm>
          <a:prstGeom prst="rect">
            <a:avLst/>
          </a:prstGeom>
          <a:noFill/>
          <a:ln/>
        </p:spPr>
        <p:txBody>
          <a:bodyPr wrap="square" lIns="0" tIns="0" rIns="0" bIns="0" rtlCol="0" anchor="ctr"/>
          <a:lstStyle/>
          <a:p>
            <a:pPr marL="0" indent="0">
              <a:buNone/>
            </a:pPr>
            <a:r>
              <a:rPr lang="en-US" sz="1500" b="1" dirty="0">
                <a:solidFill>
                  <a:srgbClr val="1F4D2E"/>
                </a:solidFill>
                <a:latin typeface="Georgia" pitchFamily="34" charset="0"/>
                <a:ea typeface="Georgia" pitchFamily="34" charset="-122"/>
                <a:cs typeface="Georgia" pitchFamily="34" charset="-120"/>
              </a:rPr>
              <a:t>~100</a:t>
            </a:r>
            <a:endParaRPr lang="en-US" sz="1500" dirty="0"/>
          </a:p>
        </p:txBody>
      </p:sp>
      <p:sp>
        <p:nvSpPr>
          <p:cNvPr id="11" name="Text 7"/>
          <p:cNvSpPr/>
          <p:nvPr/>
        </p:nvSpPr>
        <p:spPr>
          <a:xfrm>
            <a:off x="1691640" y="3108960"/>
            <a:ext cx="2697480" cy="585216"/>
          </a:xfrm>
          <a:prstGeom prst="rect">
            <a:avLst/>
          </a:prstGeom>
          <a:noFill/>
          <a:ln/>
        </p:spPr>
        <p:txBody>
          <a:bodyPr wrap="square" lIns="0" tIns="0" rIns="0" bIns="0" rtlCol="0" anchor="ctr"/>
          <a:lstStyle/>
          <a:p>
            <a:pPr marL="0" indent="0">
              <a:lnSpc>
                <a:spcPts val="1300"/>
              </a:lnSpc>
              <a:buNone/>
            </a:pPr>
            <a:r>
              <a:rPr lang="en-US" sz="900" dirty="0">
                <a:solidFill>
                  <a:srgbClr val="6B7472"/>
                </a:solidFill>
                <a:latin typeface="Verdana" pitchFamily="34" charset="0"/>
                <a:ea typeface="Verdana" pitchFamily="34" charset="-122"/>
                <a:cs typeface="Verdana" pitchFamily="34" charset="-120"/>
              </a:rPr>
              <a:t>Wolves, descended from animals reintroduced in 1995</a:t>
            </a:r>
            <a:endParaRPr lang="en-US" sz="900" dirty="0"/>
          </a:p>
        </p:txBody>
      </p:sp>
      <p:sp>
        <p:nvSpPr>
          <p:cNvPr id="12" name="Item rule">
            <a:extLst>
              <a:ext uri="{C183D7F6-B498-43B3-948B-1728B52AA6E4}">
                <adec:decorative xmlns:adec="http://schemas.microsoft.com/office/drawing/2017/decorative" val="1"/>
              </a:ext>
            </a:extLst>
          </p:cNvPr>
          <p:cNvSpPr/>
          <p:nvPr/>
        </p:nvSpPr>
        <p:spPr>
          <a:xfrm>
            <a:off x="548640" y="3785616"/>
            <a:ext cx="45720" cy="548640"/>
          </a:xfrm>
          <a:prstGeom prst="rect">
            <a:avLst/>
          </a:prstGeom>
          <a:solidFill>
            <a:srgbClr val="D4A017"/>
          </a:solidFill>
          <a:ln/>
        </p:spPr>
        <p:txBody>
          <a:bodyPr/>
          <a:lstStyle/>
          <a:p>
            <a:endParaRPr lang="cs-CZ"/>
          </a:p>
        </p:txBody>
      </p:sp>
      <p:sp>
        <p:nvSpPr>
          <p:cNvPr id="13" name="Text 9"/>
          <p:cNvSpPr/>
          <p:nvPr/>
        </p:nvSpPr>
        <p:spPr>
          <a:xfrm>
            <a:off x="731520" y="3767328"/>
            <a:ext cx="914400" cy="292608"/>
          </a:xfrm>
          <a:prstGeom prst="rect">
            <a:avLst/>
          </a:prstGeom>
          <a:noFill/>
          <a:ln/>
        </p:spPr>
        <p:txBody>
          <a:bodyPr wrap="square" lIns="0" tIns="0" rIns="0" bIns="0" rtlCol="0" anchor="ctr"/>
          <a:lstStyle/>
          <a:p>
            <a:pPr marL="0" indent="0">
              <a:buNone/>
            </a:pPr>
            <a:r>
              <a:rPr lang="en-US" sz="1500" b="1" dirty="0">
                <a:solidFill>
                  <a:srgbClr val="1F4D2E"/>
                </a:solidFill>
                <a:latin typeface="Georgia" pitchFamily="34" charset="0"/>
                <a:ea typeface="Georgia" pitchFamily="34" charset="-122"/>
                <a:cs typeface="Georgia" pitchFamily="34" charset="-120"/>
              </a:rPr>
              <a:t>~1,000</a:t>
            </a:r>
            <a:endParaRPr lang="en-US" sz="1500" dirty="0"/>
          </a:p>
        </p:txBody>
      </p:sp>
      <p:sp>
        <p:nvSpPr>
          <p:cNvPr id="14" name="Text 10"/>
          <p:cNvSpPr/>
          <p:nvPr/>
        </p:nvSpPr>
        <p:spPr>
          <a:xfrm>
            <a:off x="1691640" y="3767328"/>
            <a:ext cx="2697480" cy="585216"/>
          </a:xfrm>
          <a:prstGeom prst="rect">
            <a:avLst/>
          </a:prstGeom>
          <a:noFill/>
          <a:ln/>
        </p:spPr>
        <p:txBody>
          <a:bodyPr wrap="square" lIns="0" tIns="0" rIns="0" bIns="0" rtlCol="0" anchor="ctr"/>
          <a:lstStyle/>
          <a:p>
            <a:pPr marL="0" indent="0">
              <a:lnSpc>
                <a:spcPts val="1300"/>
              </a:lnSpc>
              <a:buNone/>
            </a:pPr>
            <a:r>
              <a:rPr lang="en-US" sz="900" dirty="0">
                <a:solidFill>
                  <a:srgbClr val="6B7472"/>
                </a:solidFill>
                <a:latin typeface="Verdana" pitchFamily="34" charset="0"/>
                <a:ea typeface="Verdana" pitchFamily="34" charset="-122"/>
                <a:cs typeface="Verdana" pitchFamily="34" charset="-120"/>
              </a:rPr>
              <a:t>Grizzly bears across the Greater Yellowstone Ecosystem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8046720" cy="640080"/>
          </a:xfrm>
          <a:prstGeom prst="rect">
            <a:avLst/>
          </a:prstGeom>
          <a:noFill/>
          <a:ln/>
        </p:spPr>
        <p:txBody>
          <a:bodyPr wrap="square" lIns="0" tIns="0" rIns="0" bIns="0" rtlCol="0" anchor="ctr"/>
          <a:lstStyle/>
          <a:p>
            <a:pPr marL="0" indent="0">
              <a:buNone/>
            </a:pPr>
            <a:r>
              <a:rPr lang="en-US" sz="2800" b="1" dirty="0">
                <a:solidFill>
                  <a:srgbClr val="1F4D2E"/>
                </a:solidFill>
                <a:latin typeface="Georgia" pitchFamily="34" charset="0"/>
                <a:ea typeface="Georgia" pitchFamily="34" charset="-122"/>
                <a:cs typeface="Georgia" pitchFamily="34" charset="-120"/>
              </a:rPr>
              <a:t>Canyons, Falls &amp; Forests</a:t>
            </a:r>
            <a:endParaRPr lang="en-US" sz="2800" dirty="0"/>
          </a:p>
        </p:txBody>
      </p:sp>
      <p:pic>
        <p:nvPicPr>
          <p:cNvPr id="3" name="Image 0" descr="Lower Falls plunging into the yellow-walled Grand Canyon of the Yellowstone"/>
          <p:cNvPicPr>
            <a:picLocks noChangeAspect="1"/>
          </p:cNvPicPr>
          <p:nvPr/>
        </p:nvPicPr>
        <p:blipFill>
          <a:blip r:embed="rId3"/>
          <a:srcRect t="1887" b="1887"/>
          <a:stretch/>
        </p:blipFill>
        <p:spPr>
          <a:xfrm>
            <a:off x="548640" y="1188720"/>
            <a:ext cx="4846320" cy="3108960"/>
          </a:xfrm>
          <a:prstGeom prst="rect">
            <a:avLst/>
          </a:prstGeom>
        </p:spPr>
      </p:pic>
      <p:sp>
        <p:nvSpPr>
          <p:cNvPr id="4" name="Text 1"/>
          <p:cNvSpPr/>
          <p:nvPr/>
        </p:nvSpPr>
        <p:spPr>
          <a:xfrm>
            <a:off x="5669280" y="1234440"/>
            <a:ext cx="2926080" cy="685800"/>
          </a:xfrm>
          <a:prstGeom prst="rect">
            <a:avLst/>
          </a:prstGeom>
          <a:noFill/>
          <a:ln/>
        </p:spPr>
        <p:txBody>
          <a:bodyPr wrap="square" lIns="0" tIns="0" rIns="0" bIns="0" rtlCol="0" anchor="ctr"/>
          <a:lstStyle/>
          <a:p>
            <a:pPr marL="0" indent="0">
              <a:buNone/>
            </a:pPr>
            <a:r>
              <a:rPr lang="en-US" sz="1700" b="1" dirty="0">
                <a:solidFill>
                  <a:srgbClr val="1F4D2E"/>
                </a:solidFill>
                <a:latin typeface="Georgia" pitchFamily="34" charset="0"/>
                <a:ea typeface="Georgia" pitchFamily="34" charset="-122"/>
                <a:cs typeface="Georgia" pitchFamily="34" charset="-120"/>
              </a:rPr>
              <a:t>The Grand Canyon of the Yellowstone</a:t>
            </a:r>
            <a:endParaRPr lang="en-US" sz="1700" dirty="0"/>
          </a:p>
        </p:txBody>
      </p:sp>
      <p:sp>
        <p:nvSpPr>
          <p:cNvPr id="5" name="Text 2"/>
          <p:cNvSpPr/>
          <p:nvPr/>
        </p:nvSpPr>
        <p:spPr>
          <a:xfrm>
            <a:off x="5669280" y="2011680"/>
            <a:ext cx="2926080" cy="2286000"/>
          </a:xfrm>
          <a:prstGeom prst="rect">
            <a:avLst/>
          </a:prstGeom>
          <a:noFill/>
          <a:ln/>
        </p:spPr>
        <p:txBody>
          <a:bodyPr wrap="square" lIns="0" tIns="0" rIns="0" bIns="0" rtlCol="0" anchor="ctr"/>
          <a:lstStyle/>
          <a:p>
            <a:pPr marL="0" indent="0">
              <a:lnSpc>
                <a:spcPts val="1700"/>
              </a:lnSpc>
              <a:buNone/>
            </a:pPr>
            <a:r>
              <a:rPr lang="en-US" sz="1050" dirty="0">
                <a:solidFill>
                  <a:srgbClr val="23282B"/>
                </a:solidFill>
                <a:latin typeface="Verdana" pitchFamily="34" charset="0"/>
                <a:ea typeface="Verdana" pitchFamily="34" charset="-122"/>
                <a:cs typeface="Verdana" pitchFamily="34" charset="-120"/>
              </a:rPr>
              <a:t>The Yellowstone River carved a canyon 32 kilometres long and up to 370 metres deep. Its walls glow yellow and rose — the result of hot water altering the volcanic rock.</a:t>
            </a:r>
            <a:endParaRPr lang="en-US" sz="1050" dirty="0"/>
          </a:p>
          <a:p>
            <a:pPr marL="0" indent="0">
              <a:lnSpc>
                <a:spcPts val="1700"/>
              </a:lnSpc>
              <a:buNone/>
            </a:pPr>
            <a:endParaRPr lang="en-US" sz="1050" dirty="0"/>
          </a:p>
          <a:p>
            <a:pPr marL="0" indent="0">
              <a:lnSpc>
                <a:spcPts val="1700"/>
              </a:lnSpc>
              <a:buNone/>
            </a:pPr>
            <a:r>
              <a:rPr lang="en-US" sz="1050" dirty="0">
                <a:solidFill>
                  <a:srgbClr val="23282B"/>
                </a:solidFill>
                <a:latin typeface="Verdana" pitchFamily="34" charset="0"/>
                <a:ea typeface="Verdana" pitchFamily="34" charset="-122"/>
                <a:cs typeface="Verdana" pitchFamily="34" charset="-120"/>
              </a:rPr>
              <a:t>Lower Falls drops 94 metres, nearly twice the height of Niagara, and is best seen from Artist Point at first light.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8046720" cy="640080"/>
          </a:xfrm>
          <a:prstGeom prst="rect">
            <a:avLst/>
          </a:prstGeom>
          <a:noFill/>
          <a:ln/>
        </p:spPr>
        <p:txBody>
          <a:bodyPr wrap="square" lIns="0" tIns="0" rIns="0" bIns="0" rtlCol="0" anchor="ctr"/>
          <a:lstStyle/>
          <a:p>
            <a:pPr marL="0" indent="0">
              <a:buNone/>
            </a:pPr>
            <a:r>
              <a:rPr lang="en-US" sz="2800" b="1" dirty="0">
                <a:solidFill>
                  <a:srgbClr val="1F4D2E"/>
                </a:solidFill>
                <a:latin typeface="Georgia" pitchFamily="34" charset="0"/>
                <a:ea typeface="Georgia" pitchFamily="34" charset="-122"/>
                <a:cs typeface="Georgia" pitchFamily="34" charset="-120"/>
              </a:rPr>
              <a:t>When to Visit</a:t>
            </a:r>
            <a:endParaRPr lang="en-US" sz="2800" dirty="0"/>
          </a:p>
        </p:txBody>
      </p:sp>
      <p:sp>
        <p:nvSpPr>
          <p:cNvPr id="3" name="Season card">
            <a:extLst>
              <a:ext uri="{C183D7F6-B498-43B3-948B-1728B52AA6E4}">
                <adec:decorative xmlns:adec="http://schemas.microsoft.com/office/drawing/2017/decorative" val="1"/>
              </a:ext>
            </a:extLst>
          </p:cNvPr>
          <p:cNvSpPr/>
          <p:nvPr/>
        </p:nvSpPr>
        <p:spPr>
          <a:xfrm>
            <a:off x="548640" y="1234440"/>
            <a:ext cx="1874520" cy="1920240"/>
          </a:xfrm>
          <a:prstGeom prst="rect">
            <a:avLst/>
          </a:prstGeom>
          <a:solidFill>
            <a:srgbClr val="F4F1EA"/>
          </a:solidFill>
          <a:ln/>
        </p:spPr>
        <p:txBody>
          <a:bodyPr/>
          <a:lstStyle/>
          <a:p>
            <a:endParaRPr lang="cs-CZ"/>
          </a:p>
        </p:txBody>
      </p:sp>
      <p:sp>
        <p:nvSpPr>
          <p:cNvPr id="4" name="Card accent">
            <a:extLst>
              <a:ext uri="{C183D7F6-B498-43B3-948B-1728B52AA6E4}">
                <adec:decorative xmlns:adec="http://schemas.microsoft.com/office/drawing/2017/decorative" val="1"/>
              </a:ext>
            </a:extLst>
          </p:cNvPr>
          <p:cNvSpPr/>
          <p:nvPr/>
        </p:nvSpPr>
        <p:spPr>
          <a:xfrm>
            <a:off x="548640" y="1234440"/>
            <a:ext cx="1874520" cy="64008"/>
          </a:xfrm>
          <a:prstGeom prst="rect">
            <a:avLst/>
          </a:prstGeom>
          <a:solidFill>
            <a:srgbClr val="1F4D2E"/>
          </a:solidFill>
          <a:ln/>
        </p:spPr>
        <p:txBody>
          <a:bodyPr/>
          <a:lstStyle/>
          <a:p>
            <a:endParaRPr lang="cs-CZ"/>
          </a:p>
        </p:txBody>
      </p:sp>
      <p:sp>
        <p:nvSpPr>
          <p:cNvPr id="5" name="Text 3"/>
          <p:cNvSpPr/>
          <p:nvPr/>
        </p:nvSpPr>
        <p:spPr>
          <a:xfrm>
            <a:off x="731520" y="1417320"/>
            <a:ext cx="1508760" cy="274320"/>
          </a:xfrm>
          <a:prstGeom prst="rect">
            <a:avLst/>
          </a:prstGeom>
          <a:noFill/>
          <a:ln/>
        </p:spPr>
        <p:txBody>
          <a:bodyPr wrap="square" lIns="0" tIns="0" rIns="0" bIns="0" rtlCol="0" anchor="t"/>
          <a:lstStyle/>
          <a:p>
            <a:pPr marL="0" indent="0">
              <a:buNone/>
            </a:pPr>
            <a:r>
              <a:rPr lang="en-US" sz="1100" b="1" kern="0" spc="200" dirty="0">
                <a:solidFill>
                  <a:srgbClr val="1F4D2E"/>
                </a:solidFill>
                <a:latin typeface="Verdana" pitchFamily="34" charset="0"/>
                <a:ea typeface="Verdana" pitchFamily="34" charset="-122"/>
                <a:cs typeface="Verdana" pitchFamily="34" charset="-120"/>
              </a:rPr>
              <a:t>SPRING</a:t>
            </a:r>
            <a:endParaRPr lang="en-US" sz="1100" dirty="0"/>
          </a:p>
        </p:txBody>
      </p:sp>
      <p:sp>
        <p:nvSpPr>
          <p:cNvPr id="6" name="Text 4"/>
          <p:cNvSpPr/>
          <p:nvPr/>
        </p:nvSpPr>
        <p:spPr>
          <a:xfrm>
            <a:off x="731520" y="1673352"/>
            <a:ext cx="1508760" cy="237744"/>
          </a:xfrm>
          <a:prstGeom prst="rect">
            <a:avLst/>
          </a:prstGeom>
          <a:noFill/>
          <a:ln/>
        </p:spPr>
        <p:txBody>
          <a:bodyPr wrap="square" lIns="0" tIns="0" rIns="0" bIns="0" rtlCol="0" anchor="t"/>
          <a:lstStyle/>
          <a:p>
            <a:pPr marL="0" indent="0">
              <a:buNone/>
            </a:pPr>
            <a:r>
              <a:rPr lang="en-US" sz="900" b="1" dirty="0">
                <a:solidFill>
                  <a:srgbClr val="D4A017"/>
                </a:solidFill>
                <a:latin typeface="Verdana" pitchFamily="34" charset="0"/>
                <a:ea typeface="Verdana" pitchFamily="34" charset="-122"/>
                <a:cs typeface="Verdana" pitchFamily="34" charset="-120"/>
              </a:rPr>
              <a:t>Apr – May</a:t>
            </a:r>
            <a:endParaRPr lang="en-US" sz="900" dirty="0"/>
          </a:p>
        </p:txBody>
      </p:sp>
      <p:sp>
        <p:nvSpPr>
          <p:cNvPr id="7" name="Text 5"/>
          <p:cNvSpPr/>
          <p:nvPr/>
        </p:nvSpPr>
        <p:spPr>
          <a:xfrm>
            <a:off x="731520" y="1938528"/>
            <a:ext cx="1508760" cy="1170432"/>
          </a:xfrm>
          <a:prstGeom prst="rect">
            <a:avLst/>
          </a:prstGeom>
          <a:noFill/>
          <a:ln/>
        </p:spPr>
        <p:txBody>
          <a:bodyPr wrap="square" lIns="0" tIns="0" rIns="0" bIns="0" rtlCol="0" anchor="t"/>
          <a:lstStyle/>
          <a:p>
            <a:pPr marL="0" indent="0">
              <a:lnSpc>
                <a:spcPts val="1300"/>
              </a:lnSpc>
              <a:buNone/>
            </a:pPr>
            <a:r>
              <a:rPr lang="en-US" sz="900" dirty="0">
                <a:solidFill>
                  <a:srgbClr val="6B7472"/>
                </a:solidFill>
                <a:latin typeface="Verdana" pitchFamily="34" charset="0"/>
                <a:ea typeface="Verdana" pitchFamily="34" charset="-122"/>
                <a:cs typeface="Verdana" pitchFamily="34" charset="-120"/>
              </a:rPr>
              <a:t>Newborn bison calves, thundering waterfalls, and quiet roads. Some passes still closed by snow.</a:t>
            </a:r>
            <a:endParaRPr lang="en-US" sz="900" dirty="0"/>
          </a:p>
        </p:txBody>
      </p:sp>
      <p:sp>
        <p:nvSpPr>
          <p:cNvPr id="8" name="Season card">
            <a:extLst>
              <a:ext uri="{C183D7F6-B498-43B3-948B-1728B52AA6E4}">
                <adec:decorative xmlns:adec="http://schemas.microsoft.com/office/drawing/2017/decorative" val="1"/>
              </a:ext>
            </a:extLst>
          </p:cNvPr>
          <p:cNvSpPr/>
          <p:nvPr/>
        </p:nvSpPr>
        <p:spPr>
          <a:xfrm>
            <a:off x="2606040" y="1234440"/>
            <a:ext cx="1874520" cy="1920240"/>
          </a:xfrm>
          <a:prstGeom prst="rect">
            <a:avLst/>
          </a:prstGeom>
          <a:solidFill>
            <a:srgbClr val="F4F1EA"/>
          </a:solidFill>
          <a:ln/>
        </p:spPr>
        <p:txBody>
          <a:bodyPr/>
          <a:lstStyle/>
          <a:p>
            <a:endParaRPr lang="cs-CZ"/>
          </a:p>
        </p:txBody>
      </p:sp>
      <p:sp>
        <p:nvSpPr>
          <p:cNvPr id="9" name="Card accent">
            <a:extLst>
              <a:ext uri="{C183D7F6-B498-43B3-948B-1728B52AA6E4}">
                <adec:decorative xmlns:adec="http://schemas.microsoft.com/office/drawing/2017/decorative" val="1"/>
              </a:ext>
            </a:extLst>
          </p:cNvPr>
          <p:cNvSpPr/>
          <p:nvPr/>
        </p:nvSpPr>
        <p:spPr>
          <a:xfrm>
            <a:off x="2606040" y="1234440"/>
            <a:ext cx="1874520" cy="64008"/>
          </a:xfrm>
          <a:prstGeom prst="rect">
            <a:avLst/>
          </a:prstGeom>
          <a:solidFill>
            <a:srgbClr val="D4A017"/>
          </a:solidFill>
          <a:ln/>
        </p:spPr>
        <p:txBody>
          <a:bodyPr/>
          <a:lstStyle/>
          <a:p>
            <a:endParaRPr lang="cs-CZ"/>
          </a:p>
        </p:txBody>
      </p:sp>
      <p:sp>
        <p:nvSpPr>
          <p:cNvPr id="10" name="Text 8"/>
          <p:cNvSpPr/>
          <p:nvPr/>
        </p:nvSpPr>
        <p:spPr>
          <a:xfrm>
            <a:off x="2788920" y="1417320"/>
            <a:ext cx="1508760" cy="274320"/>
          </a:xfrm>
          <a:prstGeom prst="rect">
            <a:avLst/>
          </a:prstGeom>
          <a:noFill/>
          <a:ln/>
        </p:spPr>
        <p:txBody>
          <a:bodyPr wrap="square" lIns="0" tIns="0" rIns="0" bIns="0" rtlCol="0" anchor="t"/>
          <a:lstStyle/>
          <a:p>
            <a:pPr marL="0" indent="0">
              <a:buNone/>
            </a:pPr>
            <a:r>
              <a:rPr lang="en-US" sz="1100" b="1" kern="0" spc="200" dirty="0">
                <a:solidFill>
                  <a:srgbClr val="1F4D2E"/>
                </a:solidFill>
                <a:latin typeface="Verdana" pitchFamily="34" charset="0"/>
                <a:ea typeface="Verdana" pitchFamily="34" charset="-122"/>
                <a:cs typeface="Verdana" pitchFamily="34" charset="-120"/>
              </a:rPr>
              <a:t>SUMMER</a:t>
            </a:r>
            <a:endParaRPr lang="en-US" sz="1100" dirty="0"/>
          </a:p>
        </p:txBody>
      </p:sp>
      <p:sp>
        <p:nvSpPr>
          <p:cNvPr id="11" name="Text 9"/>
          <p:cNvSpPr/>
          <p:nvPr/>
        </p:nvSpPr>
        <p:spPr>
          <a:xfrm>
            <a:off x="2788920" y="1673352"/>
            <a:ext cx="1508760" cy="237744"/>
          </a:xfrm>
          <a:prstGeom prst="rect">
            <a:avLst/>
          </a:prstGeom>
          <a:noFill/>
          <a:ln/>
        </p:spPr>
        <p:txBody>
          <a:bodyPr wrap="square" lIns="0" tIns="0" rIns="0" bIns="0" rtlCol="0" anchor="t"/>
          <a:lstStyle/>
          <a:p>
            <a:pPr marL="0" indent="0">
              <a:buNone/>
            </a:pPr>
            <a:r>
              <a:rPr lang="en-US" sz="900" b="1" dirty="0">
                <a:solidFill>
                  <a:srgbClr val="D4A017"/>
                </a:solidFill>
                <a:latin typeface="Verdana" pitchFamily="34" charset="0"/>
                <a:ea typeface="Verdana" pitchFamily="34" charset="-122"/>
                <a:cs typeface="Verdana" pitchFamily="34" charset="-120"/>
              </a:rPr>
              <a:t>Jun – Aug</a:t>
            </a:r>
            <a:endParaRPr lang="en-US" sz="900" dirty="0"/>
          </a:p>
        </p:txBody>
      </p:sp>
      <p:sp>
        <p:nvSpPr>
          <p:cNvPr id="12" name="Text 10"/>
          <p:cNvSpPr/>
          <p:nvPr/>
        </p:nvSpPr>
        <p:spPr>
          <a:xfrm>
            <a:off x="2788920" y="1938528"/>
            <a:ext cx="1508760" cy="1170432"/>
          </a:xfrm>
          <a:prstGeom prst="rect">
            <a:avLst/>
          </a:prstGeom>
          <a:noFill/>
          <a:ln/>
        </p:spPr>
        <p:txBody>
          <a:bodyPr wrap="square" lIns="0" tIns="0" rIns="0" bIns="0" rtlCol="0" anchor="t"/>
          <a:lstStyle/>
          <a:p>
            <a:pPr marL="0" indent="0">
              <a:lnSpc>
                <a:spcPts val="1300"/>
              </a:lnSpc>
              <a:buNone/>
            </a:pPr>
            <a:r>
              <a:rPr lang="en-US" sz="900" dirty="0">
                <a:solidFill>
                  <a:srgbClr val="6B7472"/>
                </a:solidFill>
                <a:latin typeface="Verdana" pitchFamily="34" charset="0"/>
                <a:ea typeface="Verdana" pitchFamily="34" charset="-122"/>
                <a:cs typeface="Verdana" pitchFamily="34" charset="-120"/>
              </a:rPr>
              <a:t>Every road and trail open, long warm days — and the busiest crowds of the year.</a:t>
            </a:r>
            <a:endParaRPr lang="en-US" sz="900" dirty="0"/>
          </a:p>
        </p:txBody>
      </p:sp>
      <p:sp>
        <p:nvSpPr>
          <p:cNvPr id="13" name="Season card">
            <a:extLst>
              <a:ext uri="{C183D7F6-B498-43B3-948B-1728B52AA6E4}">
                <adec:decorative xmlns:adec="http://schemas.microsoft.com/office/drawing/2017/decorative" val="1"/>
              </a:ext>
            </a:extLst>
          </p:cNvPr>
          <p:cNvSpPr/>
          <p:nvPr/>
        </p:nvSpPr>
        <p:spPr>
          <a:xfrm>
            <a:off x="4663440" y="1234440"/>
            <a:ext cx="1874520" cy="1920240"/>
          </a:xfrm>
          <a:prstGeom prst="rect">
            <a:avLst/>
          </a:prstGeom>
          <a:solidFill>
            <a:srgbClr val="F4F1EA"/>
          </a:solidFill>
          <a:ln/>
        </p:spPr>
        <p:txBody>
          <a:bodyPr/>
          <a:lstStyle/>
          <a:p>
            <a:endParaRPr lang="cs-CZ"/>
          </a:p>
        </p:txBody>
      </p:sp>
      <p:sp>
        <p:nvSpPr>
          <p:cNvPr id="14" name="Card accent">
            <a:extLst>
              <a:ext uri="{C183D7F6-B498-43B3-948B-1728B52AA6E4}">
                <adec:decorative xmlns:adec="http://schemas.microsoft.com/office/drawing/2017/decorative" val="1"/>
              </a:ext>
            </a:extLst>
          </p:cNvPr>
          <p:cNvSpPr/>
          <p:nvPr/>
        </p:nvSpPr>
        <p:spPr>
          <a:xfrm>
            <a:off x="4663440" y="1234440"/>
            <a:ext cx="1874520" cy="64008"/>
          </a:xfrm>
          <a:prstGeom prst="rect">
            <a:avLst/>
          </a:prstGeom>
          <a:solidFill>
            <a:srgbClr val="1F4D2E"/>
          </a:solidFill>
          <a:ln/>
        </p:spPr>
        <p:txBody>
          <a:bodyPr/>
          <a:lstStyle/>
          <a:p>
            <a:endParaRPr lang="cs-CZ"/>
          </a:p>
        </p:txBody>
      </p:sp>
      <p:sp>
        <p:nvSpPr>
          <p:cNvPr id="15" name="Text 13"/>
          <p:cNvSpPr/>
          <p:nvPr/>
        </p:nvSpPr>
        <p:spPr>
          <a:xfrm>
            <a:off x="4846320" y="1417320"/>
            <a:ext cx="1508760" cy="274320"/>
          </a:xfrm>
          <a:prstGeom prst="rect">
            <a:avLst/>
          </a:prstGeom>
          <a:noFill/>
          <a:ln/>
        </p:spPr>
        <p:txBody>
          <a:bodyPr wrap="square" lIns="0" tIns="0" rIns="0" bIns="0" rtlCol="0" anchor="t"/>
          <a:lstStyle/>
          <a:p>
            <a:pPr marL="0" indent="0">
              <a:buNone/>
            </a:pPr>
            <a:r>
              <a:rPr lang="en-US" sz="1100" b="1" kern="0" spc="200" dirty="0">
                <a:solidFill>
                  <a:srgbClr val="1F4D2E"/>
                </a:solidFill>
                <a:latin typeface="Verdana" pitchFamily="34" charset="0"/>
                <a:ea typeface="Verdana" pitchFamily="34" charset="-122"/>
                <a:cs typeface="Verdana" pitchFamily="34" charset="-120"/>
              </a:rPr>
              <a:t>AUTUMN</a:t>
            </a:r>
            <a:endParaRPr lang="en-US" sz="1100" dirty="0"/>
          </a:p>
        </p:txBody>
      </p:sp>
      <p:sp>
        <p:nvSpPr>
          <p:cNvPr id="16" name="Text 14"/>
          <p:cNvSpPr/>
          <p:nvPr/>
        </p:nvSpPr>
        <p:spPr>
          <a:xfrm>
            <a:off x="4846320" y="1673352"/>
            <a:ext cx="1508760" cy="237744"/>
          </a:xfrm>
          <a:prstGeom prst="rect">
            <a:avLst/>
          </a:prstGeom>
          <a:noFill/>
          <a:ln/>
        </p:spPr>
        <p:txBody>
          <a:bodyPr wrap="square" lIns="0" tIns="0" rIns="0" bIns="0" rtlCol="0" anchor="t"/>
          <a:lstStyle/>
          <a:p>
            <a:pPr marL="0" indent="0">
              <a:buNone/>
            </a:pPr>
            <a:r>
              <a:rPr lang="en-US" sz="900" b="1" dirty="0">
                <a:solidFill>
                  <a:srgbClr val="D4A017"/>
                </a:solidFill>
                <a:latin typeface="Verdana" pitchFamily="34" charset="0"/>
                <a:ea typeface="Verdana" pitchFamily="34" charset="-122"/>
                <a:cs typeface="Verdana" pitchFamily="34" charset="-120"/>
              </a:rPr>
              <a:t>Sep – Oct</a:t>
            </a:r>
            <a:endParaRPr lang="en-US" sz="900" dirty="0"/>
          </a:p>
        </p:txBody>
      </p:sp>
      <p:sp>
        <p:nvSpPr>
          <p:cNvPr id="17" name="Text 15"/>
          <p:cNvSpPr/>
          <p:nvPr/>
        </p:nvSpPr>
        <p:spPr>
          <a:xfrm>
            <a:off x="4846320" y="1938528"/>
            <a:ext cx="1508760" cy="1170432"/>
          </a:xfrm>
          <a:prstGeom prst="rect">
            <a:avLst/>
          </a:prstGeom>
          <a:noFill/>
          <a:ln/>
        </p:spPr>
        <p:txBody>
          <a:bodyPr wrap="square" lIns="0" tIns="0" rIns="0" bIns="0" rtlCol="0" anchor="t"/>
          <a:lstStyle/>
          <a:p>
            <a:pPr marL="0" indent="0">
              <a:lnSpc>
                <a:spcPts val="1300"/>
              </a:lnSpc>
              <a:buNone/>
            </a:pPr>
            <a:r>
              <a:rPr lang="en-US" sz="900" dirty="0">
                <a:solidFill>
                  <a:srgbClr val="6B7472"/>
                </a:solidFill>
                <a:latin typeface="Verdana" pitchFamily="34" charset="0"/>
                <a:ea typeface="Verdana" pitchFamily="34" charset="-122"/>
                <a:cs typeface="Verdana" pitchFamily="34" charset="-120"/>
              </a:rPr>
              <a:t>Golden aspens, the elk rut, crisp air and dramatically fewer visitors.</a:t>
            </a:r>
            <a:endParaRPr lang="en-US" sz="900" dirty="0"/>
          </a:p>
        </p:txBody>
      </p:sp>
      <p:sp>
        <p:nvSpPr>
          <p:cNvPr id="18" name="Season card">
            <a:extLst>
              <a:ext uri="{C183D7F6-B498-43B3-948B-1728B52AA6E4}">
                <adec:decorative xmlns:adec="http://schemas.microsoft.com/office/drawing/2017/decorative" val="1"/>
              </a:ext>
            </a:extLst>
          </p:cNvPr>
          <p:cNvSpPr/>
          <p:nvPr/>
        </p:nvSpPr>
        <p:spPr>
          <a:xfrm>
            <a:off x="6720840" y="1234440"/>
            <a:ext cx="1874520" cy="1920240"/>
          </a:xfrm>
          <a:prstGeom prst="rect">
            <a:avLst/>
          </a:prstGeom>
          <a:solidFill>
            <a:srgbClr val="F4F1EA"/>
          </a:solidFill>
          <a:ln/>
        </p:spPr>
        <p:txBody>
          <a:bodyPr/>
          <a:lstStyle/>
          <a:p>
            <a:endParaRPr lang="cs-CZ"/>
          </a:p>
        </p:txBody>
      </p:sp>
      <p:sp>
        <p:nvSpPr>
          <p:cNvPr id="19" name="Card accent">
            <a:extLst>
              <a:ext uri="{C183D7F6-B498-43B3-948B-1728B52AA6E4}">
                <adec:decorative xmlns:adec="http://schemas.microsoft.com/office/drawing/2017/decorative" val="1"/>
              </a:ext>
            </a:extLst>
          </p:cNvPr>
          <p:cNvSpPr/>
          <p:nvPr/>
        </p:nvSpPr>
        <p:spPr>
          <a:xfrm>
            <a:off x="6720840" y="1234440"/>
            <a:ext cx="1874520" cy="64008"/>
          </a:xfrm>
          <a:prstGeom prst="rect">
            <a:avLst/>
          </a:prstGeom>
          <a:solidFill>
            <a:srgbClr val="1F4D2E"/>
          </a:solidFill>
          <a:ln/>
        </p:spPr>
        <p:txBody>
          <a:bodyPr/>
          <a:lstStyle/>
          <a:p>
            <a:endParaRPr lang="cs-CZ"/>
          </a:p>
        </p:txBody>
      </p:sp>
      <p:sp>
        <p:nvSpPr>
          <p:cNvPr id="20" name="Text 18"/>
          <p:cNvSpPr/>
          <p:nvPr/>
        </p:nvSpPr>
        <p:spPr>
          <a:xfrm>
            <a:off x="6903720" y="1417320"/>
            <a:ext cx="1508760" cy="274320"/>
          </a:xfrm>
          <a:prstGeom prst="rect">
            <a:avLst/>
          </a:prstGeom>
          <a:noFill/>
          <a:ln/>
        </p:spPr>
        <p:txBody>
          <a:bodyPr wrap="square" lIns="0" tIns="0" rIns="0" bIns="0" rtlCol="0" anchor="t"/>
          <a:lstStyle/>
          <a:p>
            <a:pPr marL="0" indent="0">
              <a:buNone/>
            </a:pPr>
            <a:r>
              <a:rPr lang="en-US" sz="1100" b="1" kern="0" spc="200" dirty="0">
                <a:solidFill>
                  <a:srgbClr val="1F4D2E"/>
                </a:solidFill>
                <a:latin typeface="Verdana" pitchFamily="34" charset="0"/>
                <a:ea typeface="Verdana" pitchFamily="34" charset="-122"/>
                <a:cs typeface="Verdana" pitchFamily="34" charset="-120"/>
              </a:rPr>
              <a:t>WINTER</a:t>
            </a:r>
            <a:endParaRPr lang="en-US" sz="1100" dirty="0"/>
          </a:p>
        </p:txBody>
      </p:sp>
      <p:sp>
        <p:nvSpPr>
          <p:cNvPr id="21" name="Text 19"/>
          <p:cNvSpPr/>
          <p:nvPr/>
        </p:nvSpPr>
        <p:spPr>
          <a:xfrm>
            <a:off x="6903720" y="1673352"/>
            <a:ext cx="1508760" cy="237744"/>
          </a:xfrm>
          <a:prstGeom prst="rect">
            <a:avLst/>
          </a:prstGeom>
          <a:noFill/>
          <a:ln/>
        </p:spPr>
        <p:txBody>
          <a:bodyPr wrap="square" lIns="0" tIns="0" rIns="0" bIns="0" rtlCol="0" anchor="t"/>
          <a:lstStyle/>
          <a:p>
            <a:pPr marL="0" indent="0">
              <a:buNone/>
            </a:pPr>
            <a:r>
              <a:rPr lang="en-US" sz="900" b="1" dirty="0">
                <a:solidFill>
                  <a:srgbClr val="D4A017"/>
                </a:solidFill>
                <a:latin typeface="Verdana" pitchFamily="34" charset="0"/>
                <a:ea typeface="Verdana" pitchFamily="34" charset="-122"/>
                <a:cs typeface="Verdana" pitchFamily="34" charset="-120"/>
              </a:rPr>
              <a:t>Nov – Mar</a:t>
            </a:r>
            <a:endParaRPr lang="en-US" sz="900" dirty="0"/>
          </a:p>
        </p:txBody>
      </p:sp>
      <p:sp>
        <p:nvSpPr>
          <p:cNvPr id="22" name="Text 20"/>
          <p:cNvSpPr/>
          <p:nvPr/>
        </p:nvSpPr>
        <p:spPr>
          <a:xfrm>
            <a:off x="6903720" y="1938528"/>
            <a:ext cx="1508760" cy="1170432"/>
          </a:xfrm>
          <a:prstGeom prst="rect">
            <a:avLst/>
          </a:prstGeom>
          <a:noFill/>
          <a:ln/>
        </p:spPr>
        <p:txBody>
          <a:bodyPr wrap="square" lIns="0" tIns="0" rIns="0" bIns="0" rtlCol="0" anchor="t"/>
          <a:lstStyle/>
          <a:p>
            <a:pPr marL="0" indent="0">
              <a:lnSpc>
                <a:spcPts val="1300"/>
              </a:lnSpc>
              <a:buNone/>
            </a:pPr>
            <a:r>
              <a:rPr lang="en-US" sz="900" dirty="0">
                <a:solidFill>
                  <a:srgbClr val="6B7472"/>
                </a:solidFill>
                <a:latin typeface="Verdana" pitchFamily="34" charset="0"/>
                <a:ea typeface="Verdana" pitchFamily="34" charset="-122"/>
                <a:cs typeface="Verdana" pitchFamily="34" charset="-120"/>
              </a:rPr>
              <a:t>Snowcoach and ski access only. Steaming basins, frost-covered bison, deep silence.</a:t>
            </a:r>
            <a:endParaRPr lang="en-US" sz="900" dirty="0"/>
          </a:p>
        </p:txBody>
      </p:sp>
      <p:sp>
        <p:nvSpPr>
          <p:cNvPr id="23" name="Text 21"/>
          <p:cNvSpPr/>
          <p:nvPr/>
        </p:nvSpPr>
        <p:spPr>
          <a:xfrm>
            <a:off x="548640" y="3246120"/>
            <a:ext cx="8046720" cy="320040"/>
          </a:xfrm>
          <a:prstGeom prst="rect">
            <a:avLst/>
          </a:prstGeom>
          <a:noFill/>
          <a:ln/>
        </p:spPr>
        <p:txBody>
          <a:bodyPr wrap="square" lIns="0" tIns="0" rIns="0" bIns="0" rtlCol="0" anchor="ctr"/>
          <a:lstStyle/>
          <a:p>
            <a:pPr marL="0" indent="0">
              <a:buNone/>
            </a:pPr>
            <a:r>
              <a:rPr lang="en-US" sz="1050" i="1" dirty="0">
                <a:solidFill>
                  <a:srgbClr val="3C7A52"/>
                </a:solidFill>
                <a:latin typeface="Verdana" pitchFamily="34" charset="0"/>
                <a:ea typeface="Verdana" pitchFamily="34" charset="-122"/>
                <a:cs typeface="Verdana" pitchFamily="34" charset="-120"/>
              </a:rPr>
              <a:t>Peak season runs July and August — book lodging inside the park six to twelve months ahead.</a:t>
            </a:r>
            <a:endParaRPr lang="en-US" sz="1050" dirty="0"/>
          </a:p>
        </p:txBody>
      </p:sp>
      <p:pic>
        <p:nvPicPr>
          <p:cNvPr id="24" name="Image 0" descr="Steaming thermal spring ringed with orange bacterial mats in Yellowstone"/>
          <p:cNvPicPr>
            <a:picLocks noChangeAspect="1"/>
          </p:cNvPicPr>
          <p:nvPr/>
        </p:nvPicPr>
        <p:blipFill>
          <a:blip r:embed="rId3"/>
          <a:srcRect t="40199" b="40199"/>
          <a:stretch/>
        </p:blipFill>
        <p:spPr>
          <a:xfrm>
            <a:off x="548640" y="3703320"/>
            <a:ext cx="8046720" cy="10515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8046720" cy="640080"/>
          </a:xfrm>
          <a:prstGeom prst="rect">
            <a:avLst/>
          </a:prstGeom>
          <a:noFill/>
          <a:ln/>
        </p:spPr>
        <p:txBody>
          <a:bodyPr wrap="square" lIns="0" tIns="0" rIns="0" bIns="0" rtlCol="0" anchor="ctr"/>
          <a:lstStyle/>
          <a:p>
            <a:pPr marL="0" indent="0">
              <a:buNone/>
            </a:pPr>
            <a:r>
              <a:rPr lang="en-US" sz="2800" b="1" dirty="0">
                <a:solidFill>
                  <a:srgbClr val="1F4D2E"/>
                </a:solidFill>
                <a:latin typeface="Georgia" pitchFamily="34" charset="0"/>
                <a:ea typeface="Georgia" pitchFamily="34" charset="-122"/>
                <a:cs typeface="Georgia" pitchFamily="34" charset="-120"/>
              </a:rPr>
              <a:t>Visiting Responsibly</a:t>
            </a:r>
            <a:endParaRPr lang="en-US" sz="2800" dirty="0"/>
          </a:p>
        </p:txBody>
      </p:sp>
      <p:pic>
        <p:nvPicPr>
          <p:cNvPr id="3" name="Image 0" descr="Hiker on a boardwalk through a Yellowstone geyser basin at sunset"/>
          <p:cNvPicPr>
            <a:picLocks noChangeAspect="1"/>
          </p:cNvPicPr>
          <p:nvPr/>
        </p:nvPicPr>
        <p:blipFill>
          <a:blip r:embed="rId3"/>
          <a:srcRect l="10784" r="10784"/>
          <a:stretch/>
        </p:blipFill>
        <p:spPr>
          <a:xfrm>
            <a:off x="4937760" y="1188720"/>
            <a:ext cx="3657600" cy="3108960"/>
          </a:xfrm>
          <a:prstGeom prst="rect">
            <a:avLst/>
          </a:prstGeom>
        </p:spPr>
      </p:pic>
      <p:sp>
        <p:nvSpPr>
          <p:cNvPr id="4" name="Text 1"/>
          <p:cNvSpPr/>
          <p:nvPr/>
        </p:nvSpPr>
        <p:spPr>
          <a:xfrm>
            <a:off x="548640" y="1234440"/>
            <a:ext cx="548640" cy="320040"/>
          </a:xfrm>
          <a:prstGeom prst="rect">
            <a:avLst/>
          </a:prstGeom>
          <a:noFill/>
          <a:ln/>
        </p:spPr>
        <p:txBody>
          <a:bodyPr wrap="square" lIns="0" tIns="0" rIns="0" bIns="0" rtlCol="0" anchor="ctr"/>
          <a:lstStyle/>
          <a:p>
            <a:pPr marL="0" indent="0">
              <a:buNone/>
            </a:pPr>
            <a:r>
              <a:rPr lang="en-US" sz="1700" b="1" dirty="0">
                <a:solidFill>
                  <a:srgbClr val="D4A017"/>
                </a:solidFill>
                <a:latin typeface="Georgia" pitchFamily="34" charset="0"/>
                <a:ea typeface="Georgia" pitchFamily="34" charset="-122"/>
                <a:cs typeface="Georgia" pitchFamily="34" charset="-120"/>
              </a:rPr>
              <a:t>01</a:t>
            </a:r>
            <a:endParaRPr lang="en-US" sz="1700" dirty="0"/>
          </a:p>
        </p:txBody>
      </p:sp>
      <p:sp>
        <p:nvSpPr>
          <p:cNvPr id="5" name="Text 2"/>
          <p:cNvSpPr/>
          <p:nvPr/>
        </p:nvSpPr>
        <p:spPr>
          <a:xfrm>
            <a:off x="1143000" y="1234440"/>
            <a:ext cx="3566160" cy="274320"/>
          </a:xfrm>
          <a:prstGeom prst="rect">
            <a:avLst/>
          </a:prstGeom>
          <a:noFill/>
          <a:ln/>
        </p:spPr>
        <p:txBody>
          <a:bodyPr wrap="square" lIns="0" tIns="0" rIns="0" bIns="0" rtlCol="0" anchor="ctr"/>
          <a:lstStyle/>
          <a:p>
            <a:pPr marL="0" indent="0">
              <a:buNone/>
            </a:pPr>
            <a:r>
              <a:rPr lang="en-US" sz="1150" b="1" dirty="0">
                <a:solidFill>
                  <a:srgbClr val="1F4D2E"/>
                </a:solidFill>
                <a:latin typeface="Verdana" pitchFamily="34" charset="0"/>
                <a:ea typeface="Verdana" pitchFamily="34" charset="-122"/>
                <a:cs typeface="Verdana" pitchFamily="34" charset="-120"/>
              </a:rPr>
              <a:t>Keep your distance</a:t>
            </a:r>
            <a:endParaRPr lang="en-US" sz="1150" dirty="0"/>
          </a:p>
        </p:txBody>
      </p:sp>
      <p:sp>
        <p:nvSpPr>
          <p:cNvPr id="6" name="Text 3"/>
          <p:cNvSpPr/>
          <p:nvPr/>
        </p:nvSpPr>
        <p:spPr>
          <a:xfrm>
            <a:off x="1143000" y="1508760"/>
            <a:ext cx="3566160" cy="457200"/>
          </a:xfrm>
          <a:prstGeom prst="rect">
            <a:avLst/>
          </a:prstGeom>
          <a:noFill/>
          <a:ln/>
        </p:spPr>
        <p:txBody>
          <a:bodyPr wrap="square" lIns="0" tIns="0" rIns="0" bIns="0" rtlCol="0" anchor="ctr"/>
          <a:lstStyle/>
          <a:p>
            <a:pPr marL="0" indent="0">
              <a:lnSpc>
                <a:spcPts val="1300"/>
              </a:lnSpc>
              <a:buNone/>
            </a:pPr>
            <a:r>
              <a:rPr lang="en-US" sz="950" dirty="0">
                <a:solidFill>
                  <a:srgbClr val="6B7472"/>
                </a:solidFill>
                <a:latin typeface="Verdana" pitchFamily="34" charset="0"/>
                <a:ea typeface="Verdana" pitchFamily="34" charset="-122"/>
                <a:cs typeface="Verdana" pitchFamily="34" charset="-120"/>
              </a:rPr>
              <a:t>Stay 25 metres from bison and elk, 100 metres from bears and wolves.</a:t>
            </a:r>
            <a:endParaRPr lang="en-US" sz="950" dirty="0"/>
          </a:p>
        </p:txBody>
      </p:sp>
      <p:sp>
        <p:nvSpPr>
          <p:cNvPr id="7" name="Text 4"/>
          <p:cNvSpPr/>
          <p:nvPr/>
        </p:nvSpPr>
        <p:spPr>
          <a:xfrm>
            <a:off x="548640" y="2011680"/>
            <a:ext cx="548640" cy="320040"/>
          </a:xfrm>
          <a:prstGeom prst="rect">
            <a:avLst/>
          </a:prstGeom>
          <a:noFill/>
          <a:ln/>
        </p:spPr>
        <p:txBody>
          <a:bodyPr wrap="square" lIns="0" tIns="0" rIns="0" bIns="0" rtlCol="0" anchor="ctr"/>
          <a:lstStyle/>
          <a:p>
            <a:pPr marL="0" indent="0">
              <a:buNone/>
            </a:pPr>
            <a:r>
              <a:rPr lang="en-US" sz="1700" b="1" dirty="0">
                <a:solidFill>
                  <a:srgbClr val="D4A017"/>
                </a:solidFill>
                <a:latin typeface="Georgia" pitchFamily="34" charset="0"/>
                <a:ea typeface="Georgia" pitchFamily="34" charset="-122"/>
                <a:cs typeface="Georgia" pitchFamily="34" charset="-120"/>
              </a:rPr>
              <a:t>02</a:t>
            </a:r>
            <a:endParaRPr lang="en-US" sz="1700" dirty="0"/>
          </a:p>
        </p:txBody>
      </p:sp>
      <p:sp>
        <p:nvSpPr>
          <p:cNvPr id="8" name="Text 5"/>
          <p:cNvSpPr/>
          <p:nvPr/>
        </p:nvSpPr>
        <p:spPr>
          <a:xfrm>
            <a:off x="1143000" y="2011680"/>
            <a:ext cx="3566160" cy="274320"/>
          </a:xfrm>
          <a:prstGeom prst="rect">
            <a:avLst/>
          </a:prstGeom>
          <a:noFill/>
          <a:ln/>
        </p:spPr>
        <p:txBody>
          <a:bodyPr wrap="square" lIns="0" tIns="0" rIns="0" bIns="0" rtlCol="0" anchor="ctr"/>
          <a:lstStyle/>
          <a:p>
            <a:pPr marL="0" indent="0">
              <a:buNone/>
            </a:pPr>
            <a:r>
              <a:rPr lang="en-US" sz="1150" b="1" dirty="0">
                <a:solidFill>
                  <a:srgbClr val="1F4D2E"/>
                </a:solidFill>
                <a:latin typeface="Verdana" pitchFamily="34" charset="0"/>
                <a:ea typeface="Verdana" pitchFamily="34" charset="-122"/>
                <a:cs typeface="Verdana" pitchFamily="34" charset="-120"/>
              </a:rPr>
              <a:t>Stay on the boardwalks</a:t>
            </a:r>
            <a:endParaRPr lang="en-US" sz="1150" dirty="0"/>
          </a:p>
        </p:txBody>
      </p:sp>
      <p:sp>
        <p:nvSpPr>
          <p:cNvPr id="9" name="Text 6"/>
          <p:cNvSpPr/>
          <p:nvPr/>
        </p:nvSpPr>
        <p:spPr>
          <a:xfrm>
            <a:off x="1143000" y="2286000"/>
            <a:ext cx="3566160" cy="457200"/>
          </a:xfrm>
          <a:prstGeom prst="rect">
            <a:avLst/>
          </a:prstGeom>
          <a:noFill/>
          <a:ln/>
        </p:spPr>
        <p:txBody>
          <a:bodyPr wrap="square" lIns="0" tIns="0" rIns="0" bIns="0" rtlCol="0" anchor="ctr"/>
          <a:lstStyle/>
          <a:p>
            <a:pPr marL="0" indent="0">
              <a:lnSpc>
                <a:spcPts val="1300"/>
              </a:lnSpc>
              <a:buNone/>
            </a:pPr>
            <a:r>
              <a:rPr lang="en-US" sz="950" dirty="0">
                <a:solidFill>
                  <a:srgbClr val="6B7472"/>
                </a:solidFill>
                <a:latin typeface="Verdana" pitchFamily="34" charset="0"/>
                <a:ea typeface="Verdana" pitchFamily="34" charset="-122"/>
                <a:cs typeface="Verdana" pitchFamily="34" charset="-120"/>
              </a:rPr>
              <a:t>Thermal crust is fragile and the water beneath it is scalding.</a:t>
            </a:r>
            <a:endParaRPr lang="en-US" sz="950" dirty="0"/>
          </a:p>
        </p:txBody>
      </p:sp>
      <p:sp>
        <p:nvSpPr>
          <p:cNvPr id="10" name="Text 7"/>
          <p:cNvSpPr/>
          <p:nvPr/>
        </p:nvSpPr>
        <p:spPr>
          <a:xfrm>
            <a:off x="548640" y="2788920"/>
            <a:ext cx="548640" cy="320040"/>
          </a:xfrm>
          <a:prstGeom prst="rect">
            <a:avLst/>
          </a:prstGeom>
          <a:noFill/>
          <a:ln/>
        </p:spPr>
        <p:txBody>
          <a:bodyPr wrap="square" lIns="0" tIns="0" rIns="0" bIns="0" rtlCol="0" anchor="ctr"/>
          <a:lstStyle/>
          <a:p>
            <a:pPr marL="0" indent="0">
              <a:buNone/>
            </a:pPr>
            <a:r>
              <a:rPr lang="en-US" sz="1700" b="1" dirty="0">
                <a:solidFill>
                  <a:srgbClr val="D4A017"/>
                </a:solidFill>
                <a:latin typeface="Georgia" pitchFamily="34" charset="0"/>
                <a:ea typeface="Georgia" pitchFamily="34" charset="-122"/>
                <a:cs typeface="Georgia" pitchFamily="34" charset="-120"/>
              </a:rPr>
              <a:t>03</a:t>
            </a:r>
            <a:endParaRPr lang="en-US" sz="1700" dirty="0"/>
          </a:p>
        </p:txBody>
      </p:sp>
      <p:sp>
        <p:nvSpPr>
          <p:cNvPr id="11" name="Text 8"/>
          <p:cNvSpPr/>
          <p:nvPr/>
        </p:nvSpPr>
        <p:spPr>
          <a:xfrm>
            <a:off x="1143000" y="2788920"/>
            <a:ext cx="3566160" cy="274320"/>
          </a:xfrm>
          <a:prstGeom prst="rect">
            <a:avLst/>
          </a:prstGeom>
          <a:noFill/>
          <a:ln/>
        </p:spPr>
        <p:txBody>
          <a:bodyPr wrap="square" lIns="0" tIns="0" rIns="0" bIns="0" rtlCol="0" anchor="ctr"/>
          <a:lstStyle/>
          <a:p>
            <a:pPr marL="0" indent="0">
              <a:buNone/>
            </a:pPr>
            <a:r>
              <a:rPr lang="en-US" sz="1150" b="1" dirty="0">
                <a:solidFill>
                  <a:srgbClr val="1F4D2E"/>
                </a:solidFill>
                <a:latin typeface="Verdana" pitchFamily="34" charset="0"/>
                <a:ea typeface="Verdana" pitchFamily="34" charset="-122"/>
                <a:cs typeface="Verdana" pitchFamily="34" charset="-120"/>
              </a:rPr>
              <a:t>Start early</a:t>
            </a:r>
            <a:endParaRPr lang="en-US" sz="1150" dirty="0"/>
          </a:p>
        </p:txBody>
      </p:sp>
      <p:sp>
        <p:nvSpPr>
          <p:cNvPr id="12" name="Text 9"/>
          <p:cNvSpPr/>
          <p:nvPr/>
        </p:nvSpPr>
        <p:spPr>
          <a:xfrm>
            <a:off x="1143000" y="3063240"/>
            <a:ext cx="3566160" cy="457200"/>
          </a:xfrm>
          <a:prstGeom prst="rect">
            <a:avLst/>
          </a:prstGeom>
          <a:noFill/>
          <a:ln/>
        </p:spPr>
        <p:txBody>
          <a:bodyPr wrap="square" lIns="0" tIns="0" rIns="0" bIns="0" rtlCol="0" anchor="ctr"/>
          <a:lstStyle/>
          <a:p>
            <a:pPr marL="0" indent="0">
              <a:lnSpc>
                <a:spcPts val="1300"/>
              </a:lnSpc>
              <a:buNone/>
            </a:pPr>
            <a:r>
              <a:rPr lang="en-US" sz="950" dirty="0">
                <a:solidFill>
                  <a:srgbClr val="6B7472"/>
                </a:solidFill>
                <a:latin typeface="Verdana" pitchFamily="34" charset="0"/>
                <a:ea typeface="Verdana" pitchFamily="34" charset="-122"/>
                <a:cs typeface="Verdana" pitchFamily="34" charset="-120"/>
              </a:rPr>
              <a:t>Wildlife is most active at dawn and dusk, and parking fills fast.</a:t>
            </a:r>
            <a:endParaRPr lang="en-US" sz="950" dirty="0"/>
          </a:p>
        </p:txBody>
      </p:sp>
      <p:sp>
        <p:nvSpPr>
          <p:cNvPr id="13" name="Text 10"/>
          <p:cNvSpPr/>
          <p:nvPr/>
        </p:nvSpPr>
        <p:spPr>
          <a:xfrm>
            <a:off x="548640" y="3566160"/>
            <a:ext cx="548640" cy="320040"/>
          </a:xfrm>
          <a:prstGeom prst="rect">
            <a:avLst/>
          </a:prstGeom>
          <a:noFill/>
          <a:ln/>
        </p:spPr>
        <p:txBody>
          <a:bodyPr wrap="square" lIns="0" tIns="0" rIns="0" bIns="0" rtlCol="0" anchor="ctr"/>
          <a:lstStyle/>
          <a:p>
            <a:pPr marL="0" indent="0">
              <a:buNone/>
            </a:pPr>
            <a:r>
              <a:rPr lang="en-US" sz="1700" b="1" dirty="0">
                <a:solidFill>
                  <a:srgbClr val="D4A017"/>
                </a:solidFill>
                <a:latin typeface="Georgia" pitchFamily="34" charset="0"/>
                <a:ea typeface="Georgia" pitchFamily="34" charset="-122"/>
                <a:cs typeface="Georgia" pitchFamily="34" charset="-120"/>
              </a:rPr>
              <a:t>04</a:t>
            </a:r>
            <a:endParaRPr lang="en-US" sz="1700" dirty="0"/>
          </a:p>
        </p:txBody>
      </p:sp>
      <p:sp>
        <p:nvSpPr>
          <p:cNvPr id="14" name="Text 11"/>
          <p:cNvSpPr/>
          <p:nvPr/>
        </p:nvSpPr>
        <p:spPr>
          <a:xfrm>
            <a:off x="1143000" y="3566160"/>
            <a:ext cx="3566160" cy="274320"/>
          </a:xfrm>
          <a:prstGeom prst="rect">
            <a:avLst/>
          </a:prstGeom>
          <a:noFill/>
          <a:ln/>
        </p:spPr>
        <p:txBody>
          <a:bodyPr wrap="square" lIns="0" tIns="0" rIns="0" bIns="0" rtlCol="0" anchor="ctr"/>
          <a:lstStyle/>
          <a:p>
            <a:pPr marL="0" indent="0">
              <a:buNone/>
            </a:pPr>
            <a:r>
              <a:rPr lang="en-US" sz="1150" b="1" dirty="0">
                <a:solidFill>
                  <a:srgbClr val="1F4D2E"/>
                </a:solidFill>
                <a:latin typeface="Verdana" pitchFamily="34" charset="0"/>
                <a:ea typeface="Verdana" pitchFamily="34" charset="-122"/>
                <a:cs typeface="Verdana" pitchFamily="34" charset="-120"/>
              </a:rPr>
              <a:t>Pack for all weather</a:t>
            </a:r>
            <a:endParaRPr lang="en-US" sz="1150" dirty="0"/>
          </a:p>
        </p:txBody>
      </p:sp>
      <p:sp>
        <p:nvSpPr>
          <p:cNvPr id="15" name="Text 12"/>
          <p:cNvSpPr/>
          <p:nvPr/>
        </p:nvSpPr>
        <p:spPr>
          <a:xfrm>
            <a:off x="1143000" y="3840480"/>
            <a:ext cx="3566160" cy="457200"/>
          </a:xfrm>
          <a:prstGeom prst="rect">
            <a:avLst/>
          </a:prstGeom>
          <a:noFill/>
          <a:ln/>
        </p:spPr>
        <p:txBody>
          <a:bodyPr wrap="square" lIns="0" tIns="0" rIns="0" bIns="0" rtlCol="0" anchor="ctr"/>
          <a:lstStyle/>
          <a:p>
            <a:pPr marL="0" indent="0">
              <a:lnSpc>
                <a:spcPts val="1300"/>
              </a:lnSpc>
              <a:buNone/>
            </a:pPr>
            <a:r>
              <a:rPr lang="en-US" sz="950" dirty="0">
                <a:solidFill>
                  <a:srgbClr val="6B7472"/>
                </a:solidFill>
                <a:latin typeface="Verdana" pitchFamily="34" charset="0"/>
                <a:ea typeface="Verdana" pitchFamily="34" charset="-122"/>
                <a:cs typeface="Verdana" pitchFamily="34" charset="-120"/>
              </a:rPr>
              <a:t>Snow is possible in any month at 2,400 metres of elevation.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Yellowstone Lake at sunrise with warm light over calm water"/>
          <p:cNvPicPr>
            <a:picLocks noChangeAspect="1"/>
          </p:cNvPicPr>
          <p:nvPr/>
        </p:nvPicPr>
        <p:blipFill>
          <a:blip r:embed="rId3"/>
          <a:srcRect t="7813" b="7813"/>
          <a:stretch/>
        </p:blipFill>
        <p:spPr>
          <a:xfrm>
            <a:off x="0" y="0"/>
            <a:ext cx="9144000" cy="5143500"/>
          </a:xfrm>
          <a:prstGeom prst="rect">
            <a:avLst/>
          </a:prstGeom>
        </p:spPr>
      </p:pic>
      <p:sp>
        <p:nvSpPr>
          <p:cNvPr id="3" name="Photo wash">
            <a:extLst>
              <a:ext uri="{C183D7F6-B498-43B3-948B-1728B52AA6E4}">
                <adec:decorative xmlns:adec="http://schemas.microsoft.com/office/drawing/2017/decorative" val="1"/>
              </a:ext>
            </a:extLst>
          </p:cNvPr>
          <p:cNvSpPr/>
          <p:nvPr/>
        </p:nvSpPr>
        <p:spPr>
          <a:xfrm>
            <a:off x="0" y="0"/>
            <a:ext cx="9144000" cy="5143500"/>
          </a:xfrm>
          <a:prstGeom prst="rect">
            <a:avLst/>
          </a:prstGeom>
          <a:solidFill>
            <a:srgbClr val="0B2114">
              <a:alpha val="80000"/>
            </a:srgbClr>
          </a:solidFill>
          <a:ln/>
        </p:spPr>
        <p:txBody>
          <a:bodyPr/>
          <a:lstStyle/>
          <a:p>
            <a:endParaRPr lang="cs-CZ"/>
          </a:p>
        </p:txBody>
      </p:sp>
      <p:sp>
        <p:nvSpPr>
          <p:cNvPr id="4" name="Accent rule">
            <a:extLst>
              <a:ext uri="{C183D7F6-B498-43B3-948B-1728B52AA6E4}">
                <adec:decorative xmlns:adec="http://schemas.microsoft.com/office/drawing/2017/decorative" val="1"/>
              </a:ext>
            </a:extLst>
          </p:cNvPr>
          <p:cNvSpPr/>
          <p:nvPr/>
        </p:nvSpPr>
        <p:spPr>
          <a:xfrm>
            <a:off x="3063240" y="3063240"/>
            <a:ext cx="3017520" cy="54864"/>
          </a:xfrm>
          <a:prstGeom prst="rect">
            <a:avLst/>
          </a:prstGeom>
          <a:solidFill>
            <a:srgbClr val="D4A017"/>
          </a:solidFill>
          <a:ln/>
        </p:spPr>
        <p:txBody>
          <a:bodyPr/>
          <a:lstStyle/>
          <a:p>
            <a:endParaRPr lang="cs-CZ"/>
          </a:p>
        </p:txBody>
      </p:sp>
      <p:sp>
        <p:nvSpPr>
          <p:cNvPr id="5" name="Text 0"/>
          <p:cNvSpPr>
            <a:spLocks noGrp="1"/>
          </p:cNvSpPr>
          <p:nvPr>
            <p:ph type="title" idx="100" hasCustomPrompt="1"/>
          </p:nvPr>
        </p:nvSpPr>
        <p:spPr>
          <a:xfrm>
            <a:off x="548640" y="2011680"/>
            <a:ext cx="8046720" cy="914400"/>
          </a:xfrm>
          <a:prstGeom prst="rect">
            <a:avLst/>
          </a:prstGeom>
          <a:noFill/>
          <a:ln/>
        </p:spPr>
        <p:txBody>
          <a:bodyPr wrap="square" lIns="0" tIns="0" rIns="0" bIns="0"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Wild by Design</a:t>
            </a:r>
            <a:endParaRPr lang="en-US" sz="3800" dirty="0"/>
          </a:p>
        </p:txBody>
      </p:sp>
      <p:sp>
        <p:nvSpPr>
          <p:cNvPr id="6" name="Text 3"/>
          <p:cNvSpPr/>
          <p:nvPr/>
        </p:nvSpPr>
        <p:spPr>
          <a:xfrm>
            <a:off x="1280160" y="3291840"/>
            <a:ext cx="6583680" cy="731520"/>
          </a:xfrm>
          <a:prstGeom prst="rect">
            <a:avLst/>
          </a:prstGeom>
          <a:noFill/>
          <a:ln/>
        </p:spPr>
        <p:txBody>
          <a:bodyPr wrap="square" lIns="0" tIns="0" rIns="0" bIns="0" rtlCol="0" anchor="ctr"/>
          <a:lstStyle/>
          <a:p>
            <a:pPr marL="0" indent="0" algn="ctr">
              <a:lnSpc>
                <a:spcPts val="1900"/>
              </a:lnSpc>
              <a:buNone/>
            </a:pPr>
            <a:r>
              <a:rPr lang="en-US" sz="1200" dirty="0">
                <a:solidFill>
                  <a:srgbClr val="F0EDE4"/>
                </a:solidFill>
                <a:latin typeface="Verdana" pitchFamily="34" charset="0"/>
                <a:ea typeface="Verdana" pitchFamily="34" charset="-122"/>
                <a:cs typeface="Verdana" pitchFamily="34" charset="-120"/>
              </a:rPr>
              <a:t>For the benefit and enjoyment of the people — the promise Yellowstone has kept since 1872.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596</Words>
  <Application>Microsoft Office PowerPoint</Application>
  <PresentationFormat>Předvádění na obrazovce (16:9)</PresentationFormat>
  <Paragraphs>81</Paragraphs>
  <Slides>9</Slides>
  <Notes>9</Notes>
  <HiddenSlides>0</HiddenSlides>
  <MMClips>0</MMClips>
  <ScaleCrop>false</ScaleCrop>
  <HeadingPairs>
    <vt:vector size="6" baseType="variant">
      <vt:variant>
        <vt:lpstr>Použitá písma</vt:lpstr>
      </vt:variant>
      <vt:variant>
        <vt:i4>4</vt:i4>
      </vt:variant>
      <vt:variant>
        <vt:lpstr>Motiv</vt:lpstr>
      </vt:variant>
      <vt:variant>
        <vt:i4>1</vt:i4>
      </vt:variant>
      <vt:variant>
        <vt:lpstr>Nadpisy snímků</vt:lpstr>
      </vt:variant>
      <vt:variant>
        <vt:i4>9</vt:i4>
      </vt:variant>
    </vt:vector>
  </HeadingPairs>
  <TitlesOfParts>
    <vt:vector size="14" baseType="lpstr">
      <vt:lpstr>Arial</vt:lpstr>
      <vt:lpstr>Calibri</vt:lpstr>
      <vt:lpstr>Georgia</vt:lpstr>
      <vt:lpstr>Verdana</vt:lpstr>
      <vt:lpstr>Office Theme</vt:lpstr>
      <vt:lpstr>Yellowstone National Park</vt:lpstr>
      <vt:lpstr>A Park Like No Other</vt:lpstr>
      <vt:lpstr>Geysers &amp; Hot Springs</vt:lpstr>
      <vt:lpstr>Colours of the Earth</vt:lpstr>
      <vt:lpstr>Wildlife of the Valleys</vt:lpstr>
      <vt:lpstr>Canyons, Falls &amp; Forests</vt:lpstr>
      <vt:lpstr>When to Visit</vt:lpstr>
      <vt:lpstr>Visiting Responsibly</vt:lpstr>
      <vt:lpstr>Wild by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Jakub Melka</dc:creator>
  <cp:lastModifiedBy>Jakub Melka</cp:lastModifiedBy>
  <cp:revision>1</cp:revision>
  <dcterms:created xsi:type="dcterms:W3CDTF">2026-08-02T16:21:27Z</dcterms:created>
  <dcterms:modified xsi:type="dcterms:W3CDTF">2026-08-02T16:24:56Z</dcterms:modified>
</cp:coreProperties>
</file>